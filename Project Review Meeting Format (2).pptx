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86" r:id="rId2"/>
    <p:sldId id="260" r:id="rId3"/>
    <p:sldId id="278" r:id="rId4"/>
    <p:sldId id="257" r:id="rId5"/>
    <p:sldId id="321" r:id="rId6"/>
    <p:sldId id="326" r:id="rId7"/>
    <p:sldId id="328" r:id="rId8"/>
    <p:sldId id="322" r:id="rId9"/>
    <p:sldId id="323" r:id="rId10"/>
    <p:sldId id="324" r:id="rId11"/>
    <p:sldId id="277" r:id="rId12"/>
    <p:sldId id="320" r:id="rId13"/>
    <p:sldId id="327" r:id="rId14"/>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4A2AB5F-C467-4277-9137-710B83BD485F}" v="15" dt="2026-06-19T03:53:11.6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1" d="100"/>
          <a:sy n="111" d="100"/>
        </p:scale>
        <p:origin x="792" y="108"/>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630578FE-A624-4D92-B093-82C1BFA47D1F}" type="datetimeFigureOut">
              <a:rPr lang="en-US" smtClean="0"/>
              <a:pPr/>
              <a:t>6/18/2026</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F382A2A7-8E58-4AA3-854C-AFDBFBEC253A}"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4"/>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1"/>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1"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1"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1"/>
            <a:ext cx="5111751"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435101"/>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1"/>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9"/>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9"/>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9"/>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1"/>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1"/>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6/18/2026</a:t>
            </a:fld>
            <a:endParaRPr lang="en-US"/>
          </a:p>
        </p:txBody>
      </p:sp>
      <p:sp>
        <p:nvSpPr>
          <p:cNvPr id="5" name="Footer Placeholder 4"/>
          <p:cNvSpPr>
            <a:spLocks noGrp="1"/>
          </p:cNvSpPr>
          <p:nvPr>
            <p:ph type="ftr" sz="quarter" idx="3"/>
          </p:nvPr>
        </p:nvSpPr>
        <p:spPr>
          <a:xfrm>
            <a:off x="3124200" y="6356351"/>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1"/>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www.klh.edu.i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0"/>
            <a:ext cx="7772400" cy="1201361"/>
          </a:xfrm>
        </p:spPr>
        <p:txBody>
          <a:bodyPr>
            <a:normAutofit fontScale="90000"/>
          </a:bodyPr>
          <a:lstStyle/>
          <a:p>
            <a:pPr>
              <a:defRPr/>
            </a:pPr>
            <a:br>
              <a:rPr lang="en-US" sz="1800" b="0" dirty="0">
                <a:solidFill>
                  <a:schemeClr val="tx1"/>
                </a:solidFill>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A</a:t>
            </a:r>
            <a:br>
              <a:rPr lang="en-US" sz="1800" b="0" dirty="0">
                <a:solidFill>
                  <a:schemeClr val="tx1"/>
                </a:solidFill>
                <a:latin typeface="Times New Roman" pitchFamily="18" charset="0"/>
                <a:cs typeface="Times New Roman" pitchFamily="18" charset="0"/>
              </a:rPr>
            </a:br>
            <a:r>
              <a:rPr lang="en-US" sz="3600" b="1" dirty="0">
                <a:solidFill>
                  <a:srgbClr val="FF0000"/>
                </a:solidFill>
                <a:latin typeface="Times New Roman" pitchFamily="18" charset="0"/>
                <a:cs typeface="Times New Roman" pitchFamily="18" charset="0"/>
              </a:rPr>
              <a:t>Project Review Meeting  </a:t>
            </a:r>
            <a:br>
              <a:rPr lang="en-US" sz="2200" dirty="0">
                <a:latin typeface="Times New Roman" pitchFamily="18" charset="0"/>
                <a:cs typeface="Times New Roman" pitchFamily="18" charset="0"/>
              </a:rPr>
            </a:br>
            <a:r>
              <a:rPr lang="en-US" sz="2200" b="0" dirty="0">
                <a:solidFill>
                  <a:schemeClr val="tx1"/>
                </a:solidFill>
                <a:latin typeface="Times New Roman" pitchFamily="18" charset="0"/>
                <a:cs typeface="Times New Roman" pitchFamily="18" charset="0"/>
              </a:rPr>
              <a:t> on</a:t>
            </a:r>
            <a:br>
              <a:rPr lang="en-US" sz="2200" dirty="0">
                <a:latin typeface="Times New Roman" pitchFamily="18" charset="0"/>
                <a:cs typeface="Times New Roman" pitchFamily="18" charset="0"/>
              </a:rPr>
            </a:br>
            <a:r>
              <a:rPr lang="en-US" sz="3200" dirty="0">
                <a:latin typeface="Times New Roman" pitchFamily="18" charset="0"/>
                <a:cs typeface="Times New Roman" pitchFamily="18" charset="0"/>
              </a:rPr>
              <a:t> Multi City </a:t>
            </a:r>
            <a:r>
              <a:rPr lang="en-US" sz="3200">
                <a:latin typeface="Times New Roman" pitchFamily="18" charset="0"/>
                <a:cs typeface="Times New Roman" pitchFamily="18" charset="0"/>
              </a:rPr>
              <a:t>Trip Planner  </a:t>
            </a:r>
            <a:endParaRPr lang="en-US" sz="4000" b="1" dirty="0">
              <a:latin typeface="Times New Roman" pitchFamily="18" charset="0"/>
              <a:cs typeface="Times New Roman" pitchFamily="18" charset="0"/>
            </a:endParaRPr>
          </a:p>
        </p:txBody>
      </p:sp>
      <p:sp>
        <p:nvSpPr>
          <p:cNvPr id="3" name="Subtitle 2"/>
          <p:cNvSpPr>
            <a:spLocks noGrp="1"/>
          </p:cNvSpPr>
          <p:nvPr>
            <p:ph type="subTitle" idx="1"/>
          </p:nvPr>
        </p:nvSpPr>
        <p:spPr>
          <a:xfrm>
            <a:off x="381000" y="1366277"/>
            <a:ext cx="8458200" cy="2895600"/>
          </a:xfrm>
        </p:spPr>
        <p:txBody>
          <a:bodyPr>
            <a:normAutofit fontScale="47500" lnSpcReduction="20000"/>
          </a:bodyPr>
          <a:lstStyle/>
          <a:p>
            <a:pPr marR="0" algn="ctr" eaLnBrk="1" hangingPunct="1">
              <a:lnSpc>
                <a:spcPct val="80000"/>
              </a:lnSpc>
              <a:defRPr/>
            </a:pPr>
            <a:endParaRPr lang="en-US" sz="20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2600" b="1" dirty="0">
              <a:solidFill>
                <a:srgbClr val="00B0F0"/>
              </a:solidFill>
              <a:latin typeface="Times New Roman" pitchFamily="18" charset="0"/>
              <a:cs typeface="Times New Roman" pitchFamily="18" charset="0"/>
            </a:endParaRPr>
          </a:p>
          <a:p>
            <a:pPr marR="0" algn="ctr" eaLnBrk="1" hangingPunct="1">
              <a:lnSpc>
                <a:spcPct val="80000"/>
              </a:lnSpc>
              <a:defRPr/>
            </a:pPr>
            <a:r>
              <a:rPr lang="en-US" sz="2600" b="1" dirty="0">
                <a:solidFill>
                  <a:srgbClr val="00B0F0"/>
                </a:solidFill>
                <a:latin typeface="Times New Roman" pitchFamily="18" charset="0"/>
                <a:cs typeface="Times New Roman" pitchFamily="18" charset="0"/>
              </a:rPr>
              <a:t>By</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 Pranav                    2520030207</a:t>
            </a:r>
          </a:p>
          <a:p>
            <a:pPr marR="0" algn="ctr" eaLnBrk="1" hangingPunct="1">
              <a:lnSpc>
                <a:spcPct val="80000"/>
              </a:lnSpc>
              <a:defRPr/>
            </a:pPr>
            <a:r>
              <a:rPr lang="en-US" sz="3300" dirty="0">
                <a:solidFill>
                  <a:srgbClr val="0D0D0D"/>
                </a:solidFill>
                <a:latin typeface="Times New Roman" pitchFamily="18" charset="0"/>
                <a:cs typeface="Times New Roman" pitchFamily="18" charset="0"/>
              </a:rPr>
              <a:t>Yaswanth                 2520090095</a:t>
            </a:r>
          </a:p>
          <a:p>
            <a:pPr>
              <a:lnSpc>
                <a:spcPct val="80000"/>
              </a:lnSpc>
              <a:defRPr/>
            </a:pPr>
            <a:endParaRPr lang="en-US" sz="3600" b="1" dirty="0">
              <a:solidFill>
                <a:srgbClr val="00B0F0"/>
              </a:solidFill>
              <a:latin typeface="Times New Roman" pitchFamily="18" charset="0"/>
              <a:cs typeface="Times New Roman" pitchFamily="18" charset="0"/>
            </a:endParaRPr>
          </a:p>
          <a:p>
            <a:pPr>
              <a:lnSpc>
                <a:spcPct val="80000"/>
              </a:lnSpc>
              <a:defRPr/>
            </a:pPr>
            <a:r>
              <a:rPr lang="en-US" sz="3600" b="1" dirty="0">
                <a:solidFill>
                  <a:srgbClr val="00B0F0"/>
                </a:solidFill>
                <a:latin typeface="Times New Roman" pitchFamily="18" charset="0"/>
                <a:cs typeface="Times New Roman" pitchFamily="18" charset="0"/>
              </a:rPr>
              <a:t>Team Number: 26</a:t>
            </a:r>
          </a:p>
          <a:p>
            <a:pPr marR="0" algn="ctr" eaLnBrk="1" hangingPunct="1">
              <a:lnSpc>
                <a:spcPct val="80000"/>
              </a:lnSpc>
              <a:defRPr/>
            </a:pPr>
            <a:endParaRPr lang="en-US" sz="3300" dirty="0">
              <a:solidFill>
                <a:srgbClr val="0D0D0D"/>
              </a:solidFill>
              <a:latin typeface="Times New Roman" pitchFamily="18" charset="0"/>
              <a:cs typeface="Times New Roman" pitchFamily="18" charset="0"/>
            </a:endParaRPr>
          </a:p>
          <a:p>
            <a:pPr marR="0" algn="ctr" eaLnBrk="1" hangingPunct="1">
              <a:lnSpc>
                <a:spcPct val="80000"/>
              </a:lnSpc>
              <a:defRPr/>
            </a:pPr>
            <a:endParaRPr lang="en-US" sz="1300" b="1" dirty="0">
              <a:solidFill>
                <a:srgbClr val="FF0000"/>
              </a:solidFill>
              <a:latin typeface="Times New Roman" pitchFamily="18" charset="0"/>
              <a:cs typeface="Times New Roman" pitchFamily="18" charset="0"/>
            </a:endParaRPr>
          </a:p>
          <a:p>
            <a:pPr marR="0" algn="ctr" eaLnBrk="1" hangingPunct="1">
              <a:lnSpc>
                <a:spcPct val="80000"/>
              </a:lnSpc>
              <a:defRPr/>
            </a:pPr>
            <a:r>
              <a:rPr lang="en-GB" sz="3300" b="1" i="1" dirty="0">
                <a:solidFill>
                  <a:srgbClr val="FF0000"/>
                </a:solidFill>
                <a:effectLst/>
                <a:latin typeface="Times New Roman" panose="02020603050405020304" pitchFamily="18" charset="0"/>
                <a:ea typeface="Times New Roman" panose="02020603050405020304" pitchFamily="18" charset="0"/>
              </a:rPr>
              <a:t>Under the guidance of </a:t>
            </a:r>
          </a:p>
          <a:p>
            <a:pPr marR="0" algn="ctr" eaLnBrk="1" hangingPunct="1">
              <a:lnSpc>
                <a:spcPct val="80000"/>
              </a:lnSpc>
              <a:defRPr/>
            </a:pPr>
            <a:endParaRPr lang="en-US" sz="2400" dirty="0">
              <a:solidFill>
                <a:srgbClr val="0D0D0D"/>
              </a:solidFill>
              <a:latin typeface="Times New Roman" pitchFamily="18" charset="0"/>
              <a:cs typeface="Times New Roman" pitchFamily="18" charset="0"/>
            </a:endParaRP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Dr. N. Nirmala Jyothi</a:t>
            </a:r>
          </a:p>
          <a:p>
            <a:pPr marR="0" algn="ctr" eaLnBrk="1" hangingPunct="1">
              <a:lnSpc>
                <a:spcPct val="80000"/>
              </a:lnSpc>
              <a:defRPr/>
            </a:pPr>
            <a:r>
              <a:rPr lang="en-US" sz="3400" b="1" dirty="0">
                <a:solidFill>
                  <a:srgbClr val="00B0F0"/>
                </a:solidFill>
                <a:latin typeface="Times New Roman" pitchFamily="18" charset="0"/>
                <a:cs typeface="Times New Roman" pitchFamily="18" charset="0"/>
              </a:rPr>
              <a:t>Associate Professor </a:t>
            </a:r>
          </a:p>
          <a:p>
            <a:pPr marR="0" algn="ctr" eaLnBrk="1" hangingPunct="1">
              <a:lnSpc>
                <a:spcPct val="80000"/>
              </a:lnSpc>
              <a:defRPr/>
            </a:pPr>
            <a:endParaRPr lang="en-US" sz="2400" b="1" dirty="0">
              <a:solidFill>
                <a:srgbClr val="0070C0"/>
              </a:solidFill>
              <a:latin typeface="Times New Roman" pitchFamily="18" charset="0"/>
              <a:cs typeface="Times New Roman" pitchFamily="18" charset="0"/>
            </a:endParaRPr>
          </a:p>
          <a:p>
            <a:pPr marR="0" algn="ctr" eaLnBrk="1" hangingPunct="1">
              <a:lnSpc>
                <a:spcPct val="80000"/>
              </a:lnSpc>
              <a:defRPr/>
            </a:pPr>
            <a:r>
              <a:rPr lang="en-US" sz="4400" b="1" dirty="0">
                <a:solidFill>
                  <a:srgbClr val="0070C0"/>
                </a:solidFill>
                <a:latin typeface="Times New Roman" pitchFamily="18" charset="0"/>
                <a:cs typeface="Times New Roman" pitchFamily="18" charset="0"/>
              </a:rPr>
              <a:t>Department of Computer Science and Engineering</a:t>
            </a:r>
          </a:p>
          <a:p>
            <a:pPr marR="0" eaLnBrk="1" hangingPunct="1">
              <a:lnSpc>
                <a:spcPct val="80000"/>
              </a:lnSpc>
              <a:defRPr/>
            </a:pPr>
            <a:r>
              <a:rPr lang="en-US" sz="2400" b="1" dirty="0">
                <a:solidFill>
                  <a:srgbClr val="0D0D0D"/>
                </a:solidFill>
                <a:latin typeface="Times New Roman" pitchFamily="18" charset="0"/>
                <a:cs typeface="Times New Roman" pitchFamily="18" charset="0"/>
              </a:rPr>
              <a:t>                                                </a:t>
            </a:r>
            <a:r>
              <a:rPr lang="en-US" sz="2400" dirty="0">
                <a:solidFill>
                  <a:srgbClr val="0D0D0D"/>
                </a:solidFill>
                <a:latin typeface="Times New Roman" pitchFamily="18" charset="0"/>
                <a:cs typeface="Times New Roman" pitchFamily="18" charset="0"/>
              </a:rPr>
              <a:t>                                                                          </a:t>
            </a:r>
          </a:p>
        </p:txBody>
      </p:sp>
      <p:sp>
        <p:nvSpPr>
          <p:cNvPr id="13" name="TextBox 12">
            <a:extLst>
              <a:ext uri="{FF2B5EF4-FFF2-40B4-BE49-F238E27FC236}">
                <a16:creationId xmlns:a16="http://schemas.microsoft.com/office/drawing/2014/main" id="{BF7BED8D-5B4C-C6AD-A1A2-3B730E16187D}"/>
              </a:ext>
            </a:extLst>
          </p:cNvPr>
          <p:cNvSpPr txBox="1"/>
          <p:nvPr/>
        </p:nvSpPr>
        <p:spPr>
          <a:xfrm>
            <a:off x="349155" y="5257800"/>
            <a:ext cx="9144000" cy="1365695"/>
          </a:xfrm>
          <a:prstGeom prst="rect">
            <a:avLst/>
          </a:prstGeom>
          <a:noFill/>
        </p:spPr>
        <p:txBody>
          <a:bodyPr wrap="square">
            <a:spAutoFit/>
          </a:bodyPr>
          <a:lstStyle/>
          <a:p>
            <a:pPr marL="0" marR="0" algn="ctr">
              <a:lnSpc>
                <a:spcPct val="107000"/>
              </a:lnSpc>
              <a:spcBef>
                <a:spcPts val="1555"/>
              </a:spcBef>
              <a:spcAft>
                <a:spcPts val="800"/>
              </a:spcAft>
            </a:pP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Koneru </a:t>
            </a:r>
            <a:r>
              <a:rPr lang="en-GB" sz="2800" b="1" kern="100" err="1">
                <a:effectLst/>
                <a:latin typeface="Times New Roman" panose="02020603050405020304" pitchFamily="18" charset="0"/>
                <a:ea typeface="Times New Roman" panose="02020603050405020304" pitchFamily="18" charset="0"/>
                <a:cs typeface="Times New Roman" panose="02020603050405020304" pitchFamily="18" charset="0"/>
              </a:rPr>
              <a:t>Lakshmaiah</a:t>
            </a:r>
            <a:r>
              <a:rPr lang="en-GB" sz="2800" b="1" kern="100">
                <a:effectLst/>
                <a:latin typeface="Times New Roman" panose="02020603050405020304" pitchFamily="18" charset="0"/>
                <a:ea typeface="Times New Roman" panose="02020603050405020304" pitchFamily="18" charset="0"/>
                <a:cs typeface="Times New Roman" panose="02020603050405020304" pitchFamily="18" charset="0"/>
              </a:rPr>
              <a:t> Education Foundation</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(Deemed to be University </a:t>
            </a:r>
            <a:r>
              <a:rPr lang="en-GB" b="1" kern="100" err="1">
                <a:effectLst/>
                <a:latin typeface="Times New Roman" panose="02020603050405020304" pitchFamily="18" charset="0"/>
                <a:ea typeface="Times New Roman" panose="02020603050405020304" pitchFamily="18" charset="0"/>
                <a:cs typeface="Times New Roman" panose="02020603050405020304" pitchFamily="18" charset="0"/>
              </a:rPr>
              <a:t>estd</a:t>
            </a:r>
            <a: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t>. u/s. 3 of the UGC Act, 1956)</a:t>
            </a:r>
            <a:br>
              <a:rPr lang="en-GB"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Off-Campus: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Bachupally-Gandimaisamma</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Road, </a:t>
            </a:r>
            <a:r>
              <a:rPr lang="en-GB" sz="1600" b="1" kern="100" err="1">
                <a:effectLst/>
                <a:latin typeface="Times New Roman" panose="02020603050405020304" pitchFamily="18" charset="0"/>
                <a:ea typeface="Times New Roman" panose="02020603050405020304" pitchFamily="18" charset="0"/>
                <a:cs typeface="Times New Roman" panose="02020603050405020304" pitchFamily="18" charset="0"/>
              </a:rPr>
              <a:t>Bowrampet</a:t>
            </a: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 Hyderabad, Telangana - 500 043.</a:t>
            </a:r>
            <a:b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br>
            <a:r>
              <a:rPr lang="en-GB" sz="1600" b="1" kern="100">
                <a:effectLst/>
                <a:latin typeface="Times New Roman" panose="02020603050405020304" pitchFamily="18" charset="0"/>
                <a:ea typeface="Times New Roman" panose="02020603050405020304" pitchFamily="18" charset="0"/>
                <a:cs typeface="Times New Roman" panose="02020603050405020304" pitchFamily="18" charset="0"/>
              </a:rPr>
              <a:t>Phone No: 7815926816, </a:t>
            </a:r>
            <a:r>
              <a:rPr lang="en-GB" sz="1600" b="1" u="sng" kern="100">
                <a:solidFill>
                  <a:srgbClr val="467886"/>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www.klh.edu.in</a:t>
            </a:r>
            <a:endParaRPr lang="en-US" sz="1600" kern="10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5" name="Picture 4">
            <a:extLst>
              <a:ext uri="{FF2B5EF4-FFF2-40B4-BE49-F238E27FC236}">
                <a16:creationId xmlns:a16="http://schemas.microsoft.com/office/drawing/2014/main" id="{A2923E41-97D0-4F6C-49B5-B2194BF28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15014" y="3969193"/>
            <a:ext cx="2499986" cy="125304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60336"/>
            <a:ext cx="8229600" cy="1143000"/>
          </a:xfrm>
        </p:spPr>
        <p:txBody>
          <a:bodyPr>
            <a:normAutofit/>
          </a:bodyPr>
          <a:lstStyle/>
          <a:p>
            <a:r>
              <a:rPr lang="en-US" sz="2800" b="1">
                <a:solidFill>
                  <a:srgbClr val="0070C0"/>
                </a:solidFill>
                <a:latin typeface="Times New Roman" pitchFamily="18" charset="0"/>
                <a:cs typeface="Times New Roman" pitchFamily="18" charset="0"/>
              </a:rPr>
              <a:t>Outline of the Presentation</a:t>
            </a:r>
          </a:p>
        </p:txBody>
      </p:sp>
      <p:sp>
        <p:nvSpPr>
          <p:cNvPr id="3" name="Content Placeholder 2"/>
          <p:cNvSpPr>
            <a:spLocks noGrp="1"/>
          </p:cNvSpPr>
          <p:nvPr>
            <p:ph idx="1"/>
          </p:nvPr>
        </p:nvSpPr>
        <p:spPr>
          <a:xfrm>
            <a:off x="304800" y="1447801"/>
            <a:ext cx="8839200" cy="4678363"/>
          </a:xfrm>
        </p:spPr>
        <p:txBody>
          <a:bodyPr>
            <a:normAutofit fontScale="92500" lnSpcReduction="10000"/>
          </a:bodyPr>
          <a:lstStyle/>
          <a:p>
            <a:r>
              <a:rPr lang="en-US">
                <a:latin typeface="Times New Roman" pitchFamily="18" charset="0"/>
                <a:cs typeface="Times New Roman" pitchFamily="18" charset="0"/>
              </a:rPr>
              <a:t>Abstract</a:t>
            </a:r>
          </a:p>
          <a:p>
            <a:r>
              <a:rPr lang="en-US">
                <a:latin typeface="Times New Roman" pitchFamily="18" charset="0"/>
                <a:cs typeface="Times New Roman" pitchFamily="18" charset="0"/>
              </a:rPr>
              <a:t>Introduction</a:t>
            </a:r>
          </a:p>
          <a:p>
            <a:r>
              <a:rPr lang="en-US">
                <a:latin typeface="Times New Roman" pitchFamily="18" charset="0"/>
                <a:cs typeface="Times New Roman" pitchFamily="18" charset="0"/>
              </a:rPr>
              <a:t>Problem Statement</a:t>
            </a:r>
          </a:p>
          <a:p>
            <a:r>
              <a:rPr lang="en-US">
                <a:latin typeface="Times New Roman" pitchFamily="18" charset="0"/>
                <a:cs typeface="Times New Roman" pitchFamily="18" charset="0"/>
              </a:rPr>
              <a:t>Project Flow Diagram</a:t>
            </a:r>
          </a:p>
          <a:p>
            <a:r>
              <a:rPr lang="en-US">
                <a:latin typeface="Times New Roman" pitchFamily="18" charset="0"/>
                <a:cs typeface="Times New Roman" pitchFamily="18" charset="0"/>
              </a:rPr>
              <a:t>Objectives with Justification</a:t>
            </a:r>
          </a:p>
          <a:p>
            <a:r>
              <a:rPr lang="en-US">
                <a:latin typeface="Times New Roman" pitchFamily="18" charset="0"/>
                <a:cs typeface="Times New Roman" pitchFamily="18" charset="0"/>
              </a:rPr>
              <a:t>Modules[Frontend web pages]</a:t>
            </a:r>
          </a:p>
          <a:p>
            <a:r>
              <a:rPr lang="en-US">
                <a:latin typeface="Times New Roman" pitchFamily="18" charset="0"/>
                <a:cs typeface="Times New Roman" pitchFamily="18" charset="0"/>
              </a:rPr>
              <a:t>Expected Outcomes of the Proposed Work</a:t>
            </a:r>
          </a:p>
          <a:p>
            <a:r>
              <a:rPr lang="en-US">
                <a:latin typeface="Times New Roman" pitchFamily="18" charset="0"/>
                <a:cs typeface="Times New Roman" pitchFamily="18" charset="0"/>
              </a:rPr>
              <a:t>Conclusion </a:t>
            </a:r>
          </a:p>
          <a:p>
            <a:r>
              <a:rPr lang="en-US">
                <a:latin typeface="Times New Roman" pitchFamily="18" charset="0"/>
                <a:cs typeface="Times New Roman" pitchFamily="18" charset="0"/>
              </a:rPr>
              <a:t>References</a:t>
            </a:r>
          </a:p>
          <a:p>
            <a:endParaRPr lang="en-US">
              <a:latin typeface="Times New Roman" pitchFamily="18" charset="0"/>
              <a:cs typeface="Times New Roman" pitchFamily="18" charset="0"/>
            </a:endParaRPr>
          </a:p>
          <a:p>
            <a:endParaRPr lang="en-US">
              <a:latin typeface="Times New Roman" pitchFamily="18" charset="0"/>
              <a:cs typeface="Times New Roman" pitchFamily="18" charset="0"/>
            </a:endParaRPr>
          </a:p>
          <a:p>
            <a:endParaRPr lang="en-US"/>
          </a:p>
        </p:txBody>
      </p:sp>
      <p:pic>
        <p:nvPicPr>
          <p:cNvPr id="5" name="Picture 4">
            <a:extLst>
              <a:ext uri="{FF2B5EF4-FFF2-40B4-BE49-F238E27FC236}">
                <a16:creationId xmlns:a16="http://schemas.microsoft.com/office/drawing/2014/main" id="{08703F64-1981-E3B7-E2B4-D11A4F6B6EC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858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Abstract</a:t>
            </a:r>
            <a:endParaRPr lang="en-US" sz="2800"/>
          </a:p>
        </p:txBody>
      </p:sp>
      <p:sp>
        <p:nvSpPr>
          <p:cNvPr id="5" name="Content Placeholder 4">
            <a:extLst>
              <a:ext uri="{FF2B5EF4-FFF2-40B4-BE49-F238E27FC236}">
                <a16:creationId xmlns:a16="http://schemas.microsoft.com/office/drawing/2014/main" id="{44F074E8-72E0-E39A-EEE7-DFD44C874186}"/>
              </a:ext>
            </a:extLst>
          </p:cNvPr>
          <p:cNvSpPr>
            <a:spLocks noGrp="1"/>
          </p:cNvSpPr>
          <p:nvPr>
            <p:ph idx="1"/>
          </p:nvPr>
        </p:nvSpPr>
        <p:spPr>
          <a:xfrm>
            <a:off x="457200" y="1417639"/>
            <a:ext cx="8229600" cy="4708526"/>
          </a:xfrm>
        </p:spPr>
        <p:txBody>
          <a:bodyPr>
            <a:noAutofit/>
          </a:bodyPr>
          <a:lstStyle/>
          <a:p>
            <a:r>
              <a:rPr lang="en-IN" err="1">
                <a:latin typeface="Aparajita" panose="02020603050405020304" pitchFamily="18" charset="0"/>
                <a:cs typeface="Aparajita" panose="02020603050405020304" pitchFamily="18" charset="0"/>
              </a:rPr>
              <a:t>TripForge</a:t>
            </a:r>
            <a:r>
              <a:rPr lang="en-IN">
                <a:latin typeface="Aparajita" panose="02020603050405020304" pitchFamily="18" charset="0"/>
                <a:cs typeface="Aparajita" panose="02020603050405020304" pitchFamily="18" charset="0"/>
              </a:rPr>
              <a:t> is a web-based multi-city trip planner designed to simplify travel planning for users who want to visit multiple destinations in a single journey. The platform helps users organize routes, manage budgets, create itineraries, and explore travel options efficiently. By combining all travel-related planning features into one system, </a:t>
            </a:r>
            <a:r>
              <a:rPr lang="en-IN" err="1">
                <a:latin typeface="Aparajita" panose="02020603050405020304" pitchFamily="18" charset="0"/>
                <a:cs typeface="Aparajita" panose="02020603050405020304" pitchFamily="18" charset="0"/>
              </a:rPr>
              <a:t>TripForge</a:t>
            </a:r>
            <a:r>
              <a:rPr lang="en-IN">
                <a:latin typeface="Aparajita" panose="02020603050405020304" pitchFamily="18" charset="0"/>
                <a:cs typeface="Aparajita" panose="02020603050405020304" pitchFamily="18" charset="0"/>
              </a:rPr>
              <a:t> provides a seamless and user-friendly experience.</a:t>
            </a:r>
            <a:endParaRPr lang="en-US">
              <a:latin typeface="Aparajita" panose="02020603050405020304" pitchFamily="18" charset="0"/>
              <a:cs typeface="Aparajita" panose="02020603050405020304" pitchFamily="18" charset="0"/>
            </a:endParaRPr>
          </a:p>
        </p:txBody>
      </p:sp>
      <p:pic>
        <p:nvPicPr>
          <p:cNvPr id="3" name="Picture 2">
            <a:extLst>
              <a:ext uri="{FF2B5EF4-FFF2-40B4-BE49-F238E27FC236}">
                <a16:creationId xmlns:a16="http://schemas.microsoft.com/office/drawing/2014/main" id="{72D39851-D9C0-A33B-6D40-99E6F7DCA5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524000" cy="68580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itchFamily="18" charset="0"/>
                <a:cs typeface="Times New Roman" pitchFamily="18" charset="0"/>
              </a:rPr>
              <a:t>Introduction</a:t>
            </a:r>
          </a:p>
        </p:txBody>
      </p:sp>
      <p:sp>
        <p:nvSpPr>
          <p:cNvPr id="5" name="Content Placeholder 4">
            <a:extLst>
              <a:ext uri="{FF2B5EF4-FFF2-40B4-BE49-F238E27FC236}">
                <a16:creationId xmlns:a16="http://schemas.microsoft.com/office/drawing/2014/main" id="{D37586B6-5276-B3E3-CFD5-8DB648A7A841}"/>
              </a:ext>
            </a:extLst>
          </p:cNvPr>
          <p:cNvSpPr>
            <a:spLocks noGrp="1"/>
          </p:cNvSpPr>
          <p:nvPr>
            <p:ph idx="1"/>
          </p:nvPr>
        </p:nvSpPr>
        <p:spPr/>
        <p:txBody>
          <a:bodyPr>
            <a:normAutofit lnSpcReduction="10000"/>
          </a:bodyPr>
          <a:lstStyle/>
          <a:p>
            <a:r>
              <a:rPr lang="en-IN">
                <a:latin typeface="Aparajita" panose="02020603050405020304" pitchFamily="18" charset="0"/>
                <a:cs typeface="Aparajita" panose="02020603050405020304" pitchFamily="18" charset="0"/>
              </a:rPr>
              <a:t>Planning trips across multiple cities can be difficult and time-consuming. Travelers often use different websites and applications for booking, route planning, budgeting, and itinerary management. This creates confusion and increases the chances of errors. </a:t>
            </a:r>
            <a:r>
              <a:rPr lang="en-IN" err="1">
                <a:latin typeface="Aparajita" panose="02020603050405020304" pitchFamily="18" charset="0"/>
                <a:cs typeface="Aparajita" panose="02020603050405020304" pitchFamily="18" charset="0"/>
              </a:rPr>
              <a:t>TripForge</a:t>
            </a:r>
            <a:r>
              <a:rPr lang="en-IN">
                <a:latin typeface="Aparajita" panose="02020603050405020304" pitchFamily="18" charset="0"/>
                <a:cs typeface="Aparajita" panose="02020603050405020304" pitchFamily="18" charset="0"/>
              </a:rPr>
              <a:t> solves this problem by offering a centralized platform where users can plan their complete journey easily and effectively.</a:t>
            </a:r>
          </a:p>
          <a:p>
            <a:pPr marL="0" indent="0">
              <a:buNone/>
            </a:pPr>
            <a:br>
              <a:rPr lang="en-IN">
                <a:latin typeface="Aparajita" panose="02020603050405020304" pitchFamily="18" charset="0"/>
                <a:cs typeface="Aparajita" panose="02020603050405020304" pitchFamily="18" charset="0"/>
              </a:rPr>
            </a:br>
            <a:endParaRPr lang="en-IN">
              <a:latin typeface="Aparajita" panose="02020603050405020304" pitchFamily="18" charset="0"/>
              <a:cs typeface="Aparajita" panose="02020603050405020304" pitchFamily="18" charset="0"/>
            </a:endParaRPr>
          </a:p>
          <a:p>
            <a:endParaRPr lang="en-US">
              <a:latin typeface="Aparajita" panose="02020603050405020304" pitchFamily="18" charset="0"/>
              <a:cs typeface="Aparajita" panose="02020603050405020304" pitchFamily="18" charset="0"/>
            </a:endParaRPr>
          </a:p>
        </p:txBody>
      </p:sp>
      <p:pic>
        <p:nvPicPr>
          <p:cNvPr id="3" name="Picture 2">
            <a:extLst>
              <a:ext uri="{FF2B5EF4-FFF2-40B4-BE49-F238E27FC236}">
                <a16:creationId xmlns:a16="http://schemas.microsoft.com/office/drawing/2014/main" id="{54B39558-3DAD-272B-5CA3-14B0A3E7EC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447800" cy="6096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52488A-85CD-AB3F-6CFA-D3CF620C1C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12521-5D18-3AE3-CFBD-94ED2EEDAA41}"/>
              </a:ext>
            </a:extLst>
          </p:cNvPr>
          <p:cNvSpPr>
            <a:spLocks noGrp="1"/>
          </p:cNvSpPr>
          <p:nvPr>
            <p:ph type="title"/>
          </p:nvPr>
        </p:nvSpPr>
        <p:spPr/>
        <p:txBody>
          <a:bodyPr>
            <a:normAutofit fontScale="90000"/>
          </a:bodyPr>
          <a:lstStyle/>
          <a:p>
            <a:r>
              <a:rPr lang="en-US" sz="3100" b="1" dirty="0">
                <a:solidFill>
                  <a:srgbClr val="0070C0"/>
                </a:solidFill>
                <a:latin typeface="Times New Roman" pitchFamily="18" charset="0"/>
                <a:cs typeface="Times New Roman" pitchFamily="18" charset="0"/>
              </a:rPr>
              <a:t>Problem Statement</a:t>
            </a:r>
            <a:br>
              <a:rPr lang="en-US" b="1" dirty="0">
                <a:solidFill>
                  <a:srgbClr val="0070C0"/>
                </a:solidFill>
                <a:latin typeface="Times New Roman" pitchFamily="18" charset="0"/>
                <a:cs typeface="Times New Roman" pitchFamily="18" charset="0"/>
              </a:rPr>
            </a:br>
            <a:endParaRPr lang="en-US" b="1" dirty="0">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FAD7B1E9-20DA-C5AF-B180-FACA7043610C}"/>
              </a:ext>
            </a:extLst>
          </p:cNvPr>
          <p:cNvSpPr>
            <a:spLocks noGrp="1"/>
          </p:cNvSpPr>
          <p:nvPr>
            <p:ph idx="1"/>
          </p:nvPr>
        </p:nvSpPr>
        <p:spPr/>
        <p:txBody>
          <a:bodyPr>
            <a:normAutofit fontScale="92500" lnSpcReduction="20000"/>
          </a:bodyPr>
          <a:lstStyle/>
          <a:p>
            <a:r>
              <a:rPr lang="en-IN" dirty="0">
                <a:latin typeface="Aparajita" panose="02020603050405020304" pitchFamily="18" charset="0"/>
                <a:cs typeface="Aparajita" panose="02020603050405020304" pitchFamily="18" charset="0"/>
              </a:rPr>
              <a:t>Most existing travel planning systems focus mainly on single-destination trips and do not provide proper support for multi-city travel. Users face several challenges such as:</a:t>
            </a:r>
          </a:p>
          <a:p>
            <a:r>
              <a:rPr lang="en-IN" dirty="0">
                <a:latin typeface="Aparajita" panose="02020603050405020304" pitchFamily="18" charset="0"/>
                <a:cs typeface="Aparajita" panose="02020603050405020304" pitchFamily="18" charset="0"/>
              </a:rPr>
              <a:t>Difficulty in route optimization</a:t>
            </a:r>
          </a:p>
          <a:p>
            <a:r>
              <a:rPr lang="en-IN" dirty="0">
                <a:latin typeface="Aparajita" panose="02020603050405020304" pitchFamily="18" charset="0"/>
                <a:cs typeface="Aparajita" panose="02020603050405020304" pitchFamily="18" charset="0"/>
              </a:rPr>
              <a:t>Managing travel expenses</a:t>
            </a:r>
          </a:p>
          <a:p>
            <a:r>
              <a:rPr lang="en-IN" dirty="0">
                <a:latin typeface="Aparajita" panose="02020603050405020304" pitchFamily="18" charset="0"/>
                <a:cs typeface="Aparajita" panose="02020603050405020304" pitchFamily="18" charset="0"/>
              </a:rPr>
              <a:t>Scheduling conflicts</a:t>
            </a:r>
          </a:p>
          <a:p>
            <a:r>
              <a:rPr lang="en-IN" dirty="0">
                <a:latin typeface="Aparajita" panose="02020603050405020304" pitchFamily="18" charset="0"/>
                <a:cs typeface="Aparajita" panose="02020603050405020304" pitchFamily="18" charset="0"/>
              </a:rPr>
              <a:t>Handling multiple bookings</a:t>
            </a:r>
          </a:p>
          <a:p>
            <a:r>
              <a:rPr lang="en-IN" dirty="0">
                <a:latin typeface="Aparajita" panose="02020603050405020304" pitchFamily="18" charset="0"/>
                <a:cs typeface="Aparajita" panose="02020603050405020304" pitchFamily="18" charset="0"/>
              </a:rPr>
              <a:t>Lack of centralized travel management</a:t>
            </a:r>
          </a:p>
          <a:p>
            <a:r>
              <a:rPr lang="en-IN" dirty="0" err="1">
                <a:latin typeface="Aparajita" panose="02020603050405020304" pitchFamily="18" charset="0"/>
                <a:cs typeface="Aparajita" panose="02020603050405020304" pitchFamily="18" charset="0"/>
              </a:rPr>
              <a:t>TripForge</a:t>
            </a:r>
            <a:r>
              <a:rPr lang="en-IN" dirty="0">
                <a:latin typeface="Aparajita" panose="02020603050405020304" pitchFamily="18" charset="0"/>
                <a:cs typeface="Aparajita" panose="02020603050405020304" pitchFamily="18" charset="0"/>
              </a:rPr>
              <a:t> aims to overcome these challenges by providing an all-in-one multi-city trip planning solution.</a:t>
            </a:r>
          </a:p>
          <a:p>
            <a:endParaRPr lang="en-US" dirty="0">
              <a:latin typeface="Aparajita" panose="02020603050405020304" pitchFamily="18" charset="0"/>
              <a:cs typeface="Aparajita" panose="02020603050405020304" pitchFamily="18" charset="0"/>
            </a:endParaRPr>
          </a:p>
        </p:txBody>
      </p:sp>
      <p:pic>
        <p:nvPicPr>
          <p:cNvPr id="3" name="Picture 2">
            <a:extLst>
              <a:ext uri="{FF2B5EF4-FFF2-40B4-BE49-F238E27FC236}">
                <a16:creationId xmlns:a16="http://schemas.microsoft.com/office/drawing/2014/main" id="{3A16AF5D-F740-815B-410D-F8AD0C19F9E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228599"/>
            <a:ext cx="1371600" cy="609601"/>
          </a:xfrm>
          <a:prstGeom prst="rect">
            <a:avLst/>
          </a:prstGeom>
          <a:noFill/>
          <a:ln>
            <a:noFill/>
          </a:ln>
        </p:spPr>
      </p:pic>
    </p:spTree>
    <p:extLst>
      <p:ext uri="{BB962C8B-B14F-4D97-AF65-F5344CB8AC3E}">
        <p14:creationId xmlns:p14="http://schemas.microsoft.com/office/powerpoint/2010/main" val="1490799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91927C-18CB-E7CD-17FE-184519BC805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1A8919B-D2F8-AD13-EF7B-0B064723F9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157795"/>
            <a:ext cx="1447800" cy="609601"/>
          </a:xfrm>
          <a:prstGeom prst="rect">
            <a:avLst/>
          </a:prstGeom>
          <a:noFill/>
          <a:ln>
            <a:noFill/>
          </a:ln>
        </p:spPr>
      </p:pic>
      <p:pic>
        <p:nvPicPr>
          <p:cNvPr id="5" name="Content Placeholder 4">
            <a:extLst>
              <a:ext uri="{FF2B5EF4-FFF2-40B4-BE49-F238E27FC236}">
                <a16:creationId xmlns:a16="http://schemas.microsoft.com/office/drawing/2014/main" id="{058675CB-4C47-D74D-6F77-1C9807A59F0B}"/>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2122816" y="1164566"/>
            <a:ext cx="5315309" cy="5315309"/>
          </a:xfrm>
          <a:prstGeom prst="rect">
            <a:avLst/>
          </a:prstGeom>
        </p:spPr>
      </p:pic>
      <p:sp>
        <p:nvSpPr>
          <p:cNvPr id="2" name="TextBox 1">
            <a:extLst>
              <a:ext uri="{FF2B5EF4-FFF2-40B4-BE49-F238E27FC236}">
                <a16:creationId xmlns:a16="http://schemas.microsoft.com/office/drawing/2014/main" id="{F20860D2-B8B0-CAC8-832E-38A11EDC7D0E}"/>
              </a:ext>
            </a:extLst>
          </p:cNvPr>
          <p:cNvSpPr txBox="1"/>
          <p:nvPr/>
        </p:nvSpPr>
        <p:spPr>
          <a:xfrm>
            <a:off x="2950233" y="378125"/>
            <a:ext cx="4899805" cy="1077218"/>
          </a:xfrm>
          <a:prstGeom prst="rect">
            <a:avLst/>
          </a:prstGeom>
          <a:noFill/>
        </p:spPr>
        <p:txBody>
          <a:bodyPr wrap="square" rtlCol="0">
            <a:spAutoFit/>
          </a:bodyPr>
          <a:lstStyle/>
          <a:p>
            <a:r>
              <a:rPr lang="en-US" sz="3200" b="1" dirty="0">
                <a:solidFill>
                  <a:srgbClr val="0070C0"/>
                </a:solidFill>
                <a:latin typeface="Times New Roman" pitchFamily="18" charset="0"/>
                <a:cs typeface="Times New Roman" pitchFamily="18" charset="0"/>
              </a:rPr>
              <a:t>Project Flow </a:t>
            </a:r>
            <a:r>
              <a:rPr lang="en-US" sz="2800" b="1" dirty="0">
                <a:solidFill>
                  <a:srgbClr val="0070C0"/>
                </a:solidFill>
                <a:latin typeface="Times New Roman" pitchFamily="18" charset="0"/>
                <a:cs typeface="Times New Roman" pitchFamily="18" charset="0"/>
              </a:rPr>
              <a:t>Diagram</a:t>
            </a:r>
            <a:br>
              <a:rPr lang="en-US" sz="3200" b="1" dirty="0">
                <a:solidFill>
                  <a:srgbClr val="0070C0"/>
                </a:solidFill>
                <a:latin typeface="Times New Roman" pitchFamily="18" charset="0"/>
                <a:cs typeface="Times New Roman" pitchFamily="18" charset="0"/>
              </a:rPr>
            </a:br>
            <a:endParaRPr lang="en-IN" sz="3200" dirty="0"/>
          </a:p>
        </p:txBody>
      </p:sp>
    </p:spTree>
    <p:extLst>
      <p:ext uri="{BB962C8B-B14F-4D97-AF65-F5344CB8AC3E}">
        <p14:creationId xmlns:p14="http://schemas.microsoft.com/office/powerpoint/2010/main" val="27039695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CF638FD-64D3-B830-BD2D-0E648F3668D1}"/>
              </a:ext>
            </a:extLst>
          </p:cNvPr>
          <p:cNvSpPr txBox="1"/>
          <p:nvPr/>
        </p:nvSpPr>
        <p:spPr>
          <a:xfrm>
            <a:off x="353685" y="1285335"/>
            <a:ext cx="8609162" cy="5909310"/>
          </a:xfrm>
          <a:prstGeom prst="rect">
            <a:avLst/>
          </a:prstGeom>
          <a:noFill/>
        </p:spPr>
        <p:txBody>
          <a:bodyPr wrap="square" rtlCol="0">
            <a:spAutoFit/>
          </a:bodyPr>
          <a:lstStyle/>
          <a:p>
            <a:r>
              <a:rPr lang="en-IN" b="1" dirty="0">
                <a:latin typeface="Aparajita" panose="02020603050405020304" pitchFamily="18" charset="0"/>
                <a:cs typeface="Aparajita" panose="02020603050405020304" pitchFamily="18" charset="0"/>
              </a:rPr>
              <a:t>CO1: Front-End Architecture &amp; UI Engineering</a:t>
            </a:r>
            <a:endParaRPr lang="en-IN" dirty="0">
              <a:latin typeface="Aparajita" panose="02020603050405020304" pitchFamily="18" charset="0"/>
              <a:cs typeface="Aparajita" panose="02020603050405020304" pitchFamily="18" charset="0"/>
            </a:endParaRPr>
          </a:p>
          <a:p>
            <a:r>
              <a:rPr lang="en-IN" b="1" dirty="0">
                <a:latin typeface="Aparajita" panose="02020603050405020304" pitchFamily="18" charset="0"/>
                <a:cs typeface="Aparajita" panose="02020603050405020304" pitchFamily="18" charset="0"/>
              </a:rPr>
              <a:t>Component Architecture</a:t>
            </a:r>
            <a:r>
              <a:rPr lang="en-IN" dirty="0">
                <a:latin typeface="Aparajita" panose="02020603050405020304" pitchFamily="18" charset="0"/>
                <a:cs typeface="Aparajita" panose="02020603050405020304" pitchFamily="18" charset="0"/>
              </a:rPr>
              <a:t>: Reusable UI blocks like </a:t>
            </a:r>
            <a:r>
              <a:rPr lang="en-IN" dirty="0" err="1">
                <a:latin typeface="Aparajita" panose="02020603050405020304" pitchFamily="18" charset="0"/>
                <a:cs typeface="Aparajita" panose="02020603050405020304" pitchFamily="18" charset="0"/>
              </a:rPr>
              <a:t>PaxCounter</a:t>
            </a:r>
            <a:r>
              <a:rPr lang="en-IN" dirty="0">
                <a:latin typeface="Aparajita" panose="02020603050405020304" pitchFamily="18" charset="0"/>
                <a:cs typeface="Aparajita" panose="02020603050405020304" pitchFamily="18" charset="0"/>
              </a:rPr>
              <a:t> and CitySearch for modular design.</a:t>
            </a:r>
          </a:p>
          <a:p>
            <a:r>
              <a:rPr lang="en-IN" b="1" dirty="0">
                <a:latin typeface="Aparajita" panose="02020603050405020304" pitchFamily="18" charset="0"/>
                <a:cs typeface="Aparajita" panose="02020603050405020304" pitchFamily="18" charset="0"/>
              </a:rPr>
              <a:t>Layout Constraints</a:t>
            </a:r>
            <a:r>
              <a:rPr lang="en-IN" dirty="0">
                <a:latin typeface="Aparajita" panose="02020603050405020304" pitchFamily="18" charset="0"/>
                <a:cs typeface="Aparajita" panose="02020603050405020304" pitchFamily="18" charset="0"/>
              </a:rPr>
              <a:t>: Responsive interfaces built with flexible CSS grids and adaptive styling.</a:t>
            </a:r>
          </a:p>
          <a:p>
            <a:r>
              <a:rPr lang="en-IN" b="1" dirty="0">
                <a:latin typeface="Aparajita" panose="02020603050405020304" pitchFamily="18" charset="0"/>
                <a:cs typeface="Aparajita" panose="02020603050405020304" pitchFamily="18" charset="0"/>
              </a:rPr>
              <a:t>CO2: ES6+ JavaScript Patterns</a:t>
            </a:r>
            <a:endParaRPr lang="en-IN" dirty="0">
              <a:latin typeface="Aparajita" panose="02020603050405020304" pitchFamily="18" charset="0"/>
              <a:cs typeface="Aparajita" panose="02020603050405020304" pitchFamily="18" charset="0"/>
            </a:endParaRPr>
          </a:p>
          <a:p>
            <a:r>
              <a:rPr lang="en-IN" b="1" dirty="0">
                <a:latin typeface="Aparajita" panose="02020603050405020304" pitchFamily="18" charset="0"/>
                <a:cs typeface="Aparajita" panose="02020603050405020304" pitchFamily="18" charset="0"/>
              </a:rPr>
              <a:t>ES6+ Array Pipelines</a:t>
            </a:r>
            <a:r>
              <a:rPr lang="en-IN" dirty="0">
                <a:latin typeface="Aparajita" panose="02020603050405020304" pitchFamily="18" charset="0"/>
                <a:cs typeface="Aparajita" panose="02020603050405020304" pitchFamily="18" charset="0"/>
              </a:rPr>
              <a:t>: Advanced data filtering, mapping, and reduction for route calculations.</a:t>
            </a:r>
          </a:p>
          <a:p>
            <a:r>
              <a:rPr lang="en-IN" b="1" dirty="0">
                <a:latin typeface="Aparajita" panose="02020603050405020304" pitchFamily="18" charset="0"/>
                <a:cs typeface="Aparajita" panose="02020603050405020304" pitchFamily="18" charset="0"/>
              </a:rPr>
              <a:t>Algorithmic Geolocation</a:t>
            </a:r>
            <a:r>
              <a:rPr lang="en-IN" dirty="0">
                <a:latin typeface="Aparajita" panose="02020603050405020304" pitchFamily="18" charset="0"/>
                <a:cs typeface="Aparajita" panose="02020603050405020304" pitchFamily="18" charset="0"/>
              </a:rPr>
              <a:t>: Haversine distance math and parabolic geodesic flight coordinate calculations.</a:t>
            </a:r>
            <a:br>
              <a:rPr lang="en-IN" dirty="0">
                <a:latin typeface="Aparajita" panose="02020603050405020304" pitchFamily="18" charset="0"/>
                <a:cs typeface="Aparajita" panose="02020603050405020304" pitchFamily="18" charset="0"/>
              </a:rPr>
            </a:br>
            <a:r>
              <a:rPr lang="en-IN" b="1" dirty="0">
                <a:latin typeface="Aparajita" panose="02020603050405020304" pitchFamily="18" charset="0"/>
                <a:cs typeface="Aparajita" panose="02020603050405020304" pitchFamily="18" charset="0"/>
              </a:rPr>
              <a:t>CO3: React Fundamentals &amp; Hooks</a:t>
            </a:r>
            <a:endParaRPr lang="en-IN" dirty="0">
              <a:latin typeface="Aparajita" panose="02020603050405020304" pitchFamily="18" charset="0"/>
              <a:cs typeface="Aparajita" panose="02020603050405020304" pitchFamily="18" charset="0"/>
            </a:endParaRPr>
          </a:p>
          <a:p>
            <a:r>
              <a:rPr lang="en-IN" b="1" dirty="0">
                <a:latin typeface="Aparajita" panose="02020603050405020304" pitchFamily="18" charset="0"/>
                <a:cs typeface="Aparajita" panose="02020603050405020304" pitchFamily="18" charset="0"/>
              </a:rPr>
              <a:t>Hooks-Based State Flow</a:t>
            </a:r>
            <a:r>
              <a:rPr lang="en-IN" dirty="0">
                <a:latin typeface="Aparajita" panose="02020603050405020304" pitchFamily="18" charset="0"/>
                <a:cs typeface="Aparajita" panose="02020603050405020304" pitchFamily="18" charset="0"/>
              </a:rPr>
              <a:t>: Dynamic props sharing and state tracking using </a:t>
            </a:r>
            <a:r>
              <a:rPr lang="en-IN" dirty="0" err="1">
                <a:latin typeface="Aparajita" panose="02020603050405020304" pitchFamily="18" charset="0"/>
                <a:cs typeface="Aparajita" panose="02020603050405020304" pitchFamily="18" charset="0"/>
              </a:rPr>
              <a:t>useState</a:t>
            </a:r>
            <a:r>
              <a:rPr lang="en-IN" dirty="0">
                <a:latin typeface="Aparajita" panose="02020603050405020304" pitchFamily="18" charset="0"/>
                <a:cs typeface="Aparajita" panose="02020603050405020304" pitchFamily="18" charset="0"/>
              </a:rPr>
              <a:t> and </a:t>
            </a:r>
            <a:r>
              <a:rPr lang="en-IN" dirty="0" err="1">
                <a:latin typeface="Aparajita" panose="02020603050405020304" pitchFamily="18" charset="0"/>
                <a:cs typeface="Aparajita" panose="02020603050405020304" pitchFamily="18" charset="0"/>
              </a:rPr>
              <a:t>useRef</a:t>
            </a:r>
            <a:r>
              <a:rPr lang="en-IN" dirty="0">
                <a:latin typeface="Aparajita" panose="02020603050405020304" pitchFamily="18" charset="0"/>
                <a:cs typeface="Aparajita" panose="02020603050405020304" pitchFamily="18" charset="0"/>
              </a:rPr>
              <a:t>.</a:t>
            </a:r>
          </a:p>
          <a:p>
            <a:r>
              <a:rPr lang="en-IN" b="1" dirty="0">
                <a:latin typeface="Aparajita" panose="02020603050405020304" pitchFamily="18" charset="0"/>
                <a:cs typeface="Aparajita" panose="02020603050405020304" pitchFamily="18" charset="0"/>
              </a:rPr>
              <a:t>Lifecycle Management</a:t>
            </a:r>
            <a:r>
              <a:rPr lang="en-IN" dirty="0">
                <a:latin typeface="Aparajita" panose="02020603050405020304" pitchFamily="18" charset="0"/>
                <a:cs typeface="Aparajita" panose="02020603050405020304" pitchFamily="18" charset="0"/>
              </a:rPr>
              <a:t>: </a:t>
            </a:r>
            <a:r>
              <a:rPr lang="en-IN" dirty="0" err="1">
                <a:latin typeface="Aparajita" panose="02020603050405020304" pitchFamily="18" charset="0"/>
                <a:cs typeface="Aparajita" panose="02020603050405020304" pitchFamily="18" charset="0"/>
              </a:rPr>
              <a:t>useEffect</a:t>
            </a:r>
            <a:r>
              <a:rPr lang="en-IN" dirty="0">
                <a:latin typeface="Aparajita" panose="02020603050405020304" pitchFamily="18" charset="0"/>
                <a:cs typeface="Aparajita" panose="02020603050405020304" pitchFamily="18" charset="0"/>
              </a:rPr>
              <a:t> hooks for automatic currency detection and Leaflet Map updates.</a:t>
            </a:r>
          </a:p>
          <a:p>
            <a:r>
              <a:rPr lang="en-IN" b="1" dirty="0">
                <a:latin typeface="Aparajita" panose="02020603050405020304" pitchFamily="18" charset="0"/>
                <a:cs typeface="Aparajita" panose="02020603050405020304" pitchFamily="18" charset="0"/>
              </a:rPr>
              <a:t>CO4: State Management &amp; Architecture</a:t>
            </a:r>
            <a:endParaRPr lang="en-IN" dirty="0">
              <a:latin typeface="Aparajita" panose="02020603050405020304" pitchFamily="18" charset="0"/>
              <a:cs typeface="Aparajita" panose="02020603050405020304" pitchFamily="18" charset="0"/>
            </a:endParaRPr>
          </a:p>
          <a:p>
            <a:r>
              <a:rPr lang="en-IN" b="1" dirty="0">
                <a:latin typeface="Aparajita" panose="02020603050405020304" pitchFamily="18" charset="0"/>
                <a:cs typeface="Aparajita" panose="02020603050405020304" pitchFamily="18" charset="0"/>
              </a:rPr>
              <a:t>Lifting State</a:t>
            </a:r>
            <a:r>
              <a:rPr lang="en-IN" dirty="0">
                <a:latin typeface="Aparajita" panose="02020603050405020304" pitchFamily="18" charset="0"/>
                <a:cs typeface="Aparajita" panose="02020603050405020304" pitchFamily="18" charset="0"/>
              </a:rPr>
              <a:t>: Centralized user choices inside </a:t>
            </a:r>
          </a:p>
          <a:p>
            <a:r>
              <a:rPr lang="en-IN" dirty="0" err="1">
                <a:latin typeface="Aparajita" panose="02020603050405020304" pitchFamily="18" charset="0"/>
                <a:cs typeface="Aparajita" panose="02020603050405020304" pitchFamily="18" charset="0"/>
              </a:rPr>
              <a:t>App.jsx</a:t>
            </a:r>
            <a:r>
              <a:rPr lang="en-IN" dirty="0">
                <a:latin typeface="Aparajita" panose="02020603050405020304" pitchFamily="18" charset="0"/>
                <a:cs typeface="Aparajita" panose="02020603050405020304" pitchFamily="18" charset="0"/>
              </a:rPr>
              <a:t> to keep multiple step components synchronized.</a:t>
            </a:r>
          </a:p>
          <a:p>
            <a:r>
              <a:rPr lang="en-IN" b="1" dirty="0">
                <a:latin typeface="Aparajita" panose="02020603050405020304" pitchFamily="18" charset="0"/>
                <a:cs typeface="Aparajita" panose="02020603050405020304" pitchFamily="18" charset="0"/>
              </a:rPr>
              <a:t>Browser Persistence</a:t>
            </a:r>
            <a:r>
              <a:rPr lang="en-IN" dirty="0">
                <a:latin typeface="Aparajita" panose="02020603050405020304" pitchFamily="18" charset="0"/>
                <a:cs typeface="Aparajita" panose="02020603050405020304" pitchFamily="18" charset="0"/>
              </a:rPr>
              <a:t>: Secure local sessions and booking records saved in Session and Local Storage.</a:t>
            </a:r>
          </a:p>
          <a:p>
            <a:r>
              <a:rPr lang="en-IN" b="1" dirty="0">
                <a:latin typeface="Aparajita" panose="02020603050405020304" pitchFamily="18" charset="0"/>
                <a:cs typeface="Aparajita" panose="02020603050405020304" pitchFamily="18" charset="0"/>
              </a:rPr>
              <a:t>CO5: Routing, Validation &amp; Optimization</a:t>
            </a:r>
            <a:endParaRPr lang="en-IN" dirty="0">
              <a:latin typeface="Aparajita" panose="02020603050405020304" pitchFamily="18" charset="0"/>
              <a:cs typeface="Aparajita" panose="02020603050405020304" pitchFamily="18" charset="0"/>
            </a:endParaRPr>
          </a:p>
          <a:p>
            <a:r>
              <a:rPr lang="en-IN" b="1" dirty="0">
                <a:latin typeface="Aparajita" panose="02020603050405020304" pitchFamily="18" charset="0"/>
                <a:cs typeface="Aparajita" panose="02020603050405020304" pitchFamily="18" charset="0"/>
              </a:rPr>
              <a:t>Custom Step Routing</a:t>
            </a:r>
            <a:r>
              <a:rPr lang="en-IN" dirty="0">
                <a:latin typeface="Aparajita" panose="02020603050405020304" pitchFamily="18" charset="0"/>
                <a:cs typeface="Aparajita" panose="02020603050405020304" pitchFamily="18" charset="0"/>
              </a:rPr>
              <a:t>: State-controlled page transitions utilizing custom CSS plane animations.</a:t>
            </a:r>
          </a:p>
          <a:p>
            <a:r>
              <a:rPr lang="en-IN" b="1" dirty="0">
                <a:latin typeface="Aparajita" panose="02020603050405020304" pitchFamily="18" charset="0"/>
                <a:cs typeface="Aparajita" panose="02020603050405020304" pitchFamily="18" charset="0"/>
              </a:rPr>
              <a:t>Code Splitting</a:t>
            </a:r>
            <a:r>
              <a:rPr lang="en-IN" dirty="0">
                <a:latin typeface="Aparajita" panose="02020603050405020304" pitchFamily="18" charset="0"/>
                <a:cs typeface="Aparajita" panose="02020603050405020304" pitchFamily="18" charset="0"/>
              </a:rPr>
              <a:t>: Strict form input validation and dynamic async loading for PDF export scripts.</a:t>
            </a:r>
          </a:p>
          <a:p>
            <a:r>
              <a:rPr lang="en-IN" b="1" dirty="0">
                <a:latin typeface="Aparajita" panose="02020603050405020304" pitchFamily="18" charset="0"/>
                <a:cs typeface="Aparajita" panose="02020603050405020304" pitchFamily="18" charset="0"/>
              </a:rPr>
              <a:t>CO6: Production Readiness &amp; Build Tools</a:t>
            </a:r>
            <a:endParaRPr lang="en-IN" dirty="0">
              <a:latin typeface="Aparajita" panose="02020603050405020304" pitchFamily="18" charset="0"/>
              <a:cs typeface="Aparajita" panose="02020603050405020304" pitchFamily="18" charset="0"/>
            </a:endParaRPr>
          </a:p>
          <a:p>
            <a:r>
              <a:rPr lang="en-IN" b="1" dirty="0">
                <a:latin typeface="Aparajita" panose="02020603050405020304" pitchFamily="18" charset="0"/>
                <a:cs typeface="Aparajita" panose="02020603050405020304" pitchFamily="18" charset="0"/>
              </a:rPr>
              <a:t>Vite Integration</a:t>
            </a:r>
            <a:r>
              <a:rPr lang="en-IN" dirty="0">
                <a:latin typeface="Aparajita" panose="02020603050405020304" pitchFamily="18" charset="0"/>
                <a:cs typeface="Aparajita" panose="02020603050405020304" pitchFamily="18" charset="0"/>
              </a:rPr>
              <a:t>: Modern build config supporting instant hot updates and JSX compiler settings.</a:t>
            </a:r>
          </a:p>
          <a:p>
            <a:r>
              <a:rPr lang="en-IN" b="1" dirty="0">
                <a:latin typeface="Aparajita" panose="02020603050405020304" pitchFamily="18" charset="0"/>
                <a:cs typeface="Aparajita" panose="02020603050405020304" pitchFamily="18" charset="0"/>
              </a:rPr>
              <a:t>Production Bundling</a:t>
            </a:r>
            <a:r>
              <a:rPr lang="en-IN" dirty="0">
                <a:latin typeface="Aparajita" panose="02020603050405020304" pitchFamily="18" charset="0"/>
                <a:cs typeface="Aparajita" panose="02020603050405020304" pitchFamily="18" charset="0"/>
              </a:rPr>
              <a:t>: Automatic compilation of optimized, minified assets into deployment folders.</a:t>
            </a:r>
          </a:p>
          <a:p>
            <a:endParaRPr lang="en-IN" dirty="0">
              <a:latin typeface="Aparajita" panose="02020603050405020304" pitchFamily="18" charset="0"/>
              <a:cs typeface="Aparajita" panose="02020603050405020304" pitchFamily="18" charset="0"/>
            </a:endParaRPr>
          </a:p>
          <a:p>
            <a:endParaRPr lang="en-IN" dirty="0">
              <a:latin typeface="Aparajita" panose="02020603050405020304" pitchFamily="18" charset="0"/>
              <a:cs typeface="Aparajita" panose="02020603050405020304" pitchFamily="18" charset="0"/>
            </a:endParaRPr>
          </a:p>
        </p:txBody>
      </p:sp>
      <p:sp>
        <p:nvSpPr>
          <p:cNvPr id="4" name="TextBox 3">
            <a:extLst>
              <a:ext uri="{FF2B5EF4-FFF2-40B4-BE49-F238E27FC236}">
                <a16:creationId xmlns:a16="http://schemas.microsoft.com/office/drawing/2014/main" id="{FE630B7E-F6B1-2361-5799-D30F7927609F}"/>
              </a:ext>
            </a:extLst>
          </p:cNvPr>
          <p:cNvSpPr txBox="1"/>
          <p:nvPr/>
        </p:nvSpPr>
        <p:spPr>
          <a:xfrm>
            <a:off x="2622431" y="543464"/>
            <a:ext cx="5960853" cy="954107"/>
          </a:xfrm>
          <a:prstGeom prst="rect">
            <a:avLst/>
          </a:prstGeom>
          <a:noFill/>
        </p:spPr>
        <p:txBody>
          <a:bodyPr wrap="square" rtlCol="0">
            <a:spAutoFit/>
          </a:bodyPr>
          <a:lstStyle/>
          <a:p>
            <a:r>
              <a:rPr lang="en-US" sz="2800" b="1" dirty="0">
                <a:solidFill>
                  <a:srgbClr val="0070C0"/>
                </a:solidFill>
                <a:latin typeface="Times New Roman" pitchFamily="18" charset="0"/>
                <a:cs typeface="Times New Roman" pitchFamily="18" charset="0"/>
              </a:rPr>
              <a:t>CO WISE MAPPING</a:t>
            </a:r>
            <a:br>
              <a:rPr lang="en-US" sz="2800" b="1" dirty="0">
                <a:solidFill>
                  <a:srgbClr val="0070C0"/>
                </a:solidFill>
                <a:latin typeface="Times New Roman" pitchFamily="18" charset="0"/>
                <a:cs typeface="Times New Roman" pitchFamily="18" charset="0"/>
              </a:rPr>
            </a:br>
            <a:endParaRPr lang="en-IN" sz="2800" dirty="0"/>
          </a:p>
        </p:txBody>
      </p:sp>
    </p:spTree>
    <p:extLst>
      <p:ext uri="{BB962C8B-B14F-4D97-AF65-F5344CB8AC3E}">
        <p14:creationId xmlns:p14="http://schemas.microsoft.com/office/powerpoint/2010/main" val="41397123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9A8A46-CB7B-6564-F4CB-7526879646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7F7678-0395-6DAC-CFB1-E2B3DAA9A621}"/>
              </a:ext>
            </a:extLst>
          </p:cNvPr>
          <p:cNvSpPr>
            <a:spLocks noGrp="1"/>
          </p:cNvSpPr>
          <p:nvPr>
            <p:ph type="title"/>
          </p:nvPr>
        </p:nvSpPr>
        <p:spPr>
          <a:xfrm>
            <a:off x="1066800" y="274638"/>
            <a:ext cx="7848600" cy="1143000"/>
          </a:xfrm>
        </p:spPr>
        <p:txBody>
          <a:bodyPr>
            <a:normAutofit fontScale="90000"/>
          </a:bodyPr>
          <a:lstStyle/>
          <a:p>
            <a:r>
              <a:rPr lang="en-US" sz="3100" b="1">
                <a:solidFill>
                  <a:srgbClr val="0070C0"/>
                </a:solidFill>
                <a:latin typeface="Times New Roman" pitchFamily="18" charset="0"/>
                <a:cs typeface="Times New Roman" pitchFamily="18" charset="0"/>
              </a:rPr>
              <a:t>Objectives with Justification</a:t>
            </a:r>
            <a:br>
              <a:rPr lang="en-US" b="1">
                <a:solidFill>
                  <a:srgbClr val="0070C0"/>
                </a:solidFill>
                <a:latin typeface="Times New Roman" pitchFamily="18" charset="0"/>
                <a:cs typeface="Times New Roman" pitchFamily="18" charset="0"/>
              </a:rPr>
            </a:br>
            <a:endParaRPr lang="en-US"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B9E92AC0-5ACE-1D58-9D37-96B7B27D659A}"/>
              </a:ext>
            </a:extLst>
          </p:cNvPr>
          <p:cNvSpPr>
            <a:spLocks noGrp="1"/>
          </p:cNvSpPr>
          <p:nvPr>
            <p:ph idx="1"/>
          </p:nvPr>
        </p:nvSpPr>
        <p:spPr>
          <a:xfrm>
            <a:off x="457200" y="1295401"/>
            <a:ext cx="8229600" cy="4830764"/>
          </a:xfrm>
        </p:spPr>
        <p:txBody>
          <a:bodyPr>
            <a:normAutofit fontScale="92500" lnSpcReduction="20000"/>
          </a:bodyPr>
          <a:lstStyle/>
          <a:p>
            <a:r>
              <a:rPr lang="en-IN" b="1">
                <a:latin typeface="Aparajita" panose="02020603050405020304" pitchFamily="18" charset="0"/>
                <a:cs typeface="Aparajita" panose="02020603050405020304" pitchFamily="18" charset="0"/>
              </a:rPr>
              <a:t>Objectives</a:t>
            </a:r>
          </a:p>
          <a:p>
            <a:r>
              <a:rPr lang="en-IN">
                <a:latin typeface="Aparajita" panose="02020603050405020304" pitchFamily="18" charset="0"/>
                <a:cs typeface="Aparajita" panose="02020603050405020304" pitchFamily="18" charset="0"/>
              </a:rPr>
              <a:t>To simplify multi-city travel planning</a:t>
            </a:r>
          </a:p>
          <a:p>
            <a:r>
              <a:rPr lang="en-IN">
                <a:latin typeface="Aparajita" panose="02020603050405020304" pitchFamily="18" charset="0"/>
                <a:cs typeface="Aparajita" panose="02020603050405020304" pitchFamily="18" charset="0"/>
              </a:rPr>
              <a:t>To reduce manual effort in itinerary creation</a:t>
            </a:r>
          </a:p>
          <a:p>
            <a:r>
              <a:rPr lang="en-IN">
                <a:latin typeface="Aparajita" panose="02020603050405020304" pitchFamily="18" charset="0"/>
                <a:cs typeface="Aparajita" panose="02020603050405020304" pitchFamily="18" charset="0"/>
              </a:rPr>
              <a:t>To provide accurate budget estimation</a:t>
            </a:r>
          </a:p>
          <a:p>
            <a:r>
              <a:rPr lang="en-IN">
                <a:latin typeface="Aparajita" panose="02020603050405020304" pitchFamily="18" charset="0"/>
                <a:cs typeface="Aparajita" panose="02020603050405020304" pitchFamily="18" charset="0"/>
              </a:rPr>
              <a:t>To improve travel convenience and management</a:t>
            </a:r>
          </a:p>
          <a:p>
            <a:r>
              <a:rPr lang="en-IN">
                <a:latin typeface="Aparajita" panose="02020603050405020304" pitchFamily="18" charset="0"/>
                <a:cs typeface="Aparajita" panose="02020603050405020304" pitchFamily="18" charset="0"/>
              </a:rPr>
              <a:t>To deliver a user-friendly web experience</a:t>
            </a:r>
          </a:p>
          <a:p>
            <a:r>
              <a:rPr lang="en-IN" b="1">
                <a:latin typeface="Aparajita" panose="02020603050405020304" pitchFamily="18" charset="0"/>
                <a:cs typeface="Aparajita" panose="02020603050405020304" pitchFamily="18" charset="0"/>
              </a:rPr>
              <a:t>Justification</a:t>
            </a:r>
          </a:p>
          <a:p>
            <a:r>
              <a:rPr lang="en-IN">
                <a:latin typeface="Aparajita" panose="02020603050405020304" pitchFamily="18" charset="0"/>
                <a:cs typeface="Aparajita" panose="02020603050405020304" pitchFamily="18" charset="0"/>
              </a:rPr>
              <a:t>Travelers require a smart and efficient platform to manage complex journeys. </a:t>
            </a:r>
            <a:r>
              <a:rPr lang="en-IN" err="1">
                <a:latin typeface="Aparajita" panose="02020603050405020304" pitchFamily="18" charset="0"/>
                <a:cs typeface="Aparajita" panose="02020603050405020304" pitchFamily="18" charset="0"/>
              </a:rPr>
              <a:t>TripForge</a:t>
            </a:r>
            <a:r>
              <a:rPr lang="en-IN">
                <a:latin typeface="Aparajita" panose="02020603050405020304" pitchFamily="18" charset="0"/>
                <a:cs typeface="Aparajita" panose="02020603050405020304" pitchFamily="18" charset="0"/>
              </a:rPr>
              <a:t> reduces planning time, minimizes confusion, and helps users organize their trips more effectively.</a:t>
            </a:r>
          </a:p>
          <a:p>
            <a:endParaRPr lang="en-US">
              <a:latin typeface="Aparajita" panose="02020603050405020304" pitchFamily="18" charset="0"/>
              <a:cs typeface="Aparajita" panose="02020603050405020304" pitchFamily="18" charset="0"/>
            </a:endParaRPr>
          </a:p>
        </p:txBody>
      </p:sp>
      <p:pic>
        <p:nvPicPr>
          <p:cNvPr id="4" name="Picture 3">
            <a:extLst>
              <a:ext uri="{FF2B5EF4-FFF2-40B4-BE49-F238E27FC236}">
                <a16:creationId xmlns:a16="http://schemas.microsoft.com/office/drawing/2014/main" id="{3DE80AD5-163E-DB68-2056-49EE1F1D6C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228599"/>
            <a:ext cx="1295400" cy="685801"/>
          </a:xfrm>
          <a:prstGeom prst="rect">
            <a:avLst/>
          </a:prstGeom>
          <a:noFill/>
          <a:ln>
            <a:noFill/>
          </a:ln>
        </p:spPr>
      </p:pic>
    </p:spTree>
    <p:extLst>
      <p:ext uri="{BB962C8B-B14F-4D97-AF65-F5344CB8AC3E}">
        <p14:creationId xmlns:p14="http://schemas.microsoft.com/office/powerpoint/2010/main" val="36996548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9F5BA9-1BD9-9B5B-2F31-1D5E87DEC0D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3B2385-D33C-E0C3-891C-98EDDEA018B0}"/>
              </a:ext>
            </a:extLst>
          </p:cNvPr>
          <p:cNvSpPr>
            <a:spLocks noGrp="1"/>
          </p:cNvSpPr>
          <p:nvPr>
            <p:ph type="title"/>
          </p:nvPr>
        </p:nvSpPr>
        <p:spPr>
          <a:xfrm>
            <a:off x="1447800" y="274638"/>
            <a:ext cx="7467600" cy="944562"/>
          </a:xfrm>
        </p:spPr>
        <p:txBody>
          <a:bodyPr>
            <a:normAutofit/>
          </a:bodyPr>
          <a:lstStyle/>
          <a:p>
            <a:r>
              <a:rPr lang="en-US" sz="2800" b="1">
                <a:solidFill>
                  <a:srgbClr val="0070C0"/>
                </a:solidFill>
                <a:latin typeface="Times New Roman" pitchFamily="18" charset="0"/>
                <a:cs typeface="Times New Roman" pitchFamily="18" charset="0"/>
              </a:rPr>
              <a:t>Modules [Frontend web pages]</a:t>
            </a:r>
          </a:p>
        </p:txBody>
      </p:sp>
      <p:sp>
        <p:nvSpPr>
          <p:cNvPr id="5" name="Content Placeholder 4">
            <a:extLst>
              <a:ext uri="{FF2B5EF4-FFF2-40B4-BE49-F238E27FC236}">
                <a16:creationId xmlns:a16="http://schemas.microsoft.com/office/drawing/2014/main" id="{BA1E6E8A-A995-51F8-4B85-FB8AFDAF84E6}"/>
              </a:ext>
            </a:extLst>
          </p:cNvPr>
          <p:cNvSpPr>
            <a:spLocks noGrp="1"/>
          </p:cNvSpPr>
          <p:nvPr>
            <p:ph idx="1"/>
          </p:nvPr>
        </p:nvSpPr>
        <p:spPr>
          <a:xfrm>
            <a:off x="457200" y="1401763"/>
            <a:ext cx="8229600" cy="4525963"/>
          </a:xfrm>
        </p:spPr>
        <p:txBody>
          <a:bodyPr>
            <a:noAutofit/>
          </a:bodyPr>
          <a:lstStyle/>
          <a:p>
            <a:r>
              <a:rPr lang="en-IN" sz="2800" b="1">
                <a:latin typeface="Aparajita" panose="02020603050405020304" pitchFamily="18" charset="0"/>
                <a:cs typeface="Aparajita" panose="02020603050405020304" pitchFamily="18" charset="0"/>
              </a:rPr>
              <a:t>Login &amp; Signup Page:</a:t>
            </a:r>
            <a:r>
              <a:rPr lang="en-IN" sz="2800">
                <a:latin typeface="Aparajita" panose="02020603050405020304" pitchFamily="18" charset="0"/>
                <a:cs typeface="Aparajita" panose="02020603050405020304" pitchFamily="18" charset="0"/>
              </a:rPr>
              <a:t> We have </a:t>
            </a:r>
            <a:r>
              <a:rPr lang="en-IN" sz="2800" err="1">
                <a:latin typeface="Aparajita" panose="02020603050405020304" pitchFamily="18" charset="0"/>
                <a:cs typeface="Aparajita" panose="02020603050405020304" pitchFamily="18" charset="0"/>
              </a:rPr>
              <a:t>LoginPage.jsx</a:t>
            </a:r>
            <a:r>
              <a:rPr lang="en-IN" sz="2800">
                <a:latin typeface="Aparajita" panose="02020603050405020304" pitchFamily="18" charset="0"/>
                <a:cs typeface="Aparajita" panose="02020603050405020304" pitchFamily="18" charset="0"/>
              </a:rPr>
              <a:t> for user authentication.</a:t>
            </a:r>
          </a:p>
          <a:p>
            <a:r>
              <a:rPr lang="en-IN" sz="2800" b="1">
                <a:latin typeface="Aparajita" panose="02020603050405020304" pitchFamily="18" charset="0"/>
                <a:cs typeface="Aparajita" panose="02020603050405020304" pitchFamily="18" charset="0"/>
              </a:rPr>
              <a:t>Destination Planner:</a:t>
            </a:r>
            <a:r>
              <a:rPr lang="en-IN" sz="2800">
                <a:latin typeface="Aparajita" panose="02020603050405020304" pitchFamily="18" charset="0"/>
                <a:cs typeface="Aparajita" panose="02020603050405020304" pitchFamily="18" charset="0"/>
              </a:rPr>
              <a:t> This is our </a:t>
            </a:r>
            <a:r>
              <a:rPr lang="en-IN" sz="2800" b="1">
                <a:latin typeface="Aparajita" panose="02020603050405020304" pitchFamily="18" charset="0"/>
                <a:cs typeface="Aparajita" panose="02020603050405020304" pitchFamily="18" charset="0"/>
              </a:rPr>
              <a:t>Step 1 &amp; Step 2</a:t>
            </a:r>
            <a:r>
              <a:rPr lang="en-IN" sz="2800">
                <a:latin typeface="Aparajita" panose="02020603050405020304" pitchFamily="18" charset="0"/>
                <a:cs typeface="Aparajita" panose="02020603050405020304" pitchFamily="18" charset="0"/>
              </a:rPr>
              <a:t> where users select dates and build their route (source, destination, stops).</a:t>
            </a:r>
          </a:p>
          <a:p>
            <a:r>
              <a:rPr lang="en-IN" sz="2800" b="1">
                <a:latin typeface="Aparajita" panose="02020603050405020304" pitchFamily="18" charset="0"/>
                <a:cs typeface="Aparajita" panose="02020603050405020304" pitchFamily="18" charset="0"/>
              </a:rPr>
              <a:t>Budget Calculator:</a:t>
            </a:r>
            <a:r>
              <a:rPr lang="en-IN" sz="2800">
                <a:latin typeface="Aparajita" panose="02020603050405020304" pitchFamily="18" charset="0"/>
                <a:cs typeface="Aparajita" panose="02020603050405020304" pitchFamily="18" charset="0"/>
              </a:rPr>
              <a:t> This is the </a:t>
            </a:r>
            <a:r>
              <a:rPr lang="en-IN" sz="2800" b="1">
                <a:latin typeface="Aparajita" panose="02020603050405020304" pitchFamily="18" charset="0"/>
                <a:cs typeface="Aparajita" panose="02020603050405020304" pitchFamily="18" charset="0"/>
              </a:rPr>
              <a:t>Cost Summary</a:t>
            </a:r>
            <a:r>
              <a:rPr lang="en-IN" sz="2800">
                <a:latin typeface="Aparajita" panose="02020603050405020304" pitchFamily="18" charset="0"/>
                <a:cs typeface="Aparajita" panose="02020603050405020304" pitchFamily="18" charset="0"/>
              </a:rPr>
              <a:t> module in Step 3, which calculates flights, hotels, and daily expenses.</a:t>
            </a:r>
          </a:p>
          <a:p>
            <a:r>
              <a:rPr lang="en-IN" sz="2800" b="1">
                <a:latin typeface="Aparajita" panose="02020603050405020304" pitchFamily="18" charset="0"/>
                <a:cs typeface="Aparajita" panose="02020603050405020304" pitchFamily="18" charset="0"/>
              </a:rPr>
              <a:t>Itinerary Dashboard:</a:t>
            </a:r>
            <a:r>
              <a:rPr lang="en-IN" sz="2800">
                <a:latin typeface="Aparajita" panose="02020603050405020304" pitchFamily="18" charset="0"/>
                <a:cs typeface="Aparajita" panose="02020603050405020304" pitchFamily="18" charset="0"/>
              </a:rPr>
              <a:t> This is the main </a:t>
            </a:r>
            <a:r>
              <a:rPr lang="en-IN" sz="2800" b="1">
                <a:latin typeface="Aparajita" panose="02020603050405020304" pitchFamily="18" charset="0"/>
                <a:cs typeface="Aparajita" panose="02020603050405020304" pitchFamily="18" charset="0"/>
              </a:rPr>
              <a:t>Step 3 Review Dashboard</a:t>
            </a:r>
            <a:r>
              <a:rPr lang="en-IN" sz="2800">
                <a:latin typeface="Aparajita" panose="02020603050405020304" pitchFamily="18" charset="0"/>
                <a:cs typeface="Aparajita" panose="02020603050405020304" pitchFamily="18" charset="0"/>
              </a:rPr>
              <a:t> showing layovers, maps, airlines, etc.</a:t>
            </a:r>
          </a:p>
          <a:p>
            <a:r>
              <a:rPr lang="en-IN" sz="2800" b="1">
                <a:latin typeface="Aparajita" panose="02020603050405020304" pitchFamily="18" charset="0"/>
                <a:cs typeface="Aparajita" panose="02020603050405020304" pitchFamily="18" charset="0"/>
              </a:rPr>
              <a:t>Booking &amp; Confirmation Page:</a:t>
            </a:r>
            <a:r>
              <a:rPr lang="en-IN" sz="2800">
                <a:latin typeface="Aparajita" panose="02020603050405020304" pitchFamily="18" charset="0"/>
                <a:cs typeface="Aparajita" panose="02020603050405020304" pitchFamily="18" charset="0"/>
              </a:rPr>
              <a:t> This is the </a:t>
            </a:r>
            <a:r>
              <a:rPr lang="en-IN" sz="2800" b="1">
                <a:latin typeface="Aparajita" panose="02020603050405020304" pitchFamily="18" charset="0"/>
                <a:cs typeface="Aparajita" panose="02020603050405020304" pitchFamily="18" charset="0"/>
              </a:rPr>
              <a:t>"Book Tickets"</a:t>
            </a:r>
            <a:r>
              <a:rPr lang="en-IN" sz="2800">
                <a:latin typeface="Aparajita" panose="02020603050405020304" pitchFamily="18" charset="0"/>
                <a:cs typeface="Aparajita" panose="02020603050405020304" pitchFamily="18" charset="0"/>
              </a:rPr>
              <a:t> modal we just added in Step 3 that takes passenger info, payment, and gives a confirmation reference.</a:t>
            </a:r>
          </a:p>
        </p:txBody>
      </p:sp>
      <p:pic>
        <p:nvPicPr>
          <p:cNvPr id="4" name="Picture 3">
            <a:extLst>
              <a:ext uri="{FF2B5EF4-FFF2-40B4-BE49-F238E27FC236}">
                <a16:creationId xmlns:a16="http://schemas.microsoft.com/office/drawing/2014/main" id="{6A9A09CE-DAD7-52FC-861A-08A399E89FC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extLst>
      <p:ext uri="{BB962C8B-B14F-4D97-AF65-F5344CB8AC3E}">
        <p14:creationId xmlns:p14="http://schemas.microsoft.com/office/powerpoint/2010/main" val="260813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BA0219-72F6-E875-BE00-9DC12E3264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6AD0D1-C48F-F8C2-40B0-E97271642E83}"/>
              </a:ext>
            </a:extLst>
          </p:cNvPr>
          <p:cNvSpPr>
            <a:spLocks noGrp="1"/>
          </p:cNvSpPr>
          <p:nvPr>
            <p:ph type="title"/>
          </p:nvPr>
        </p:nvSpPr>
        <p:spPr>
          <a:xfrm>
            <a:off x="1524000" y="274638"/>
            <a:ext cx="7162800" cy="868362"/>
          </a:xfrm>
        </p:spPr>
        <p:txBody>
          <a:bodyPr>
            <a:normAutofit fontScale="90000"/>
          </a:bodyPr>
          <a:lstStyle/>
          <a:p>
            <a:r>
              <a:rPr lang="en-US" sz="3100" b="1">
                <a:solidFill>
                  <a:srgbClr val="0070C0"/>
                </a:solidFill>
                <a:latin typeface="Aparajita" panose="02020603050405020304" pitchFamily="18" charset="0"/>
                <a:cs typeface="Aparajita" panose="02020603050405020304" pitchFamily="18" charset="0"/>
              </a:rPr>
              <a:t>Expected Outcomes of the Proposed Work</a:t>
            </a:r>
            <a:br>
              <a:rPr lang="en-US" b="1">
                <a:solidFill>
                  <a:srgbClr val="0070C0"/>
                </a:solidFill>
                <a:latin typeface="Aparajita" panose="02020603050405020304" pitchFamily="18" charset="0"/>
                <a:cs typeface="Aparajita" panose="02020603050405020304" pitchFamily="18" charset="0"/>
              </a:rPr>
            </a:br>
            <a:endParaRPr lang="en-US" b="1">
              <a:solidFill>
                <a:srgbClr val="0070C0"/>
              </a:solidFill>
              <a:latin typeface="Aparajita" panose="02020603050405020304" pitchFamily="18" charset="0"/>
              <a:cs typeface="Aparajita" panose="02020603050405020304" pitchFamily="18" charset="0"/>
            </a:endParaRPr>
          </a:p>
        </p:txBody>
      </p:sp>
      <p:pic>
        <p:nvPicPr>
          <p:cNvPr id="5" name="Picture 4">
            <a:extLst>
              <a:ext uri="{FF2B5EF4-FFF2-40B4-BE49-F238E27FC236}">
                <a16:creationId xmlns:a16="http://schemas.microsoft.com/office/drawing/2014/main" id="{7FCB392D-6672-9401-8EB8-2E1BA488584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295400" cy="746125"/>
          </a:xfrm>
          <a:prstGeom prst="rect">
            <a:avLst/>
          </a:prstGeom>
          <a:noFill/>
          <a:ln>
            <a:noFill/>
          </a:ln>
        </p:spPr>
      </p:pic>
      <p:sp>
        <p:nvSpPr>
          <p:cNvPr id="6" name="Rectangle 2">
            <a:extLst>
              <a:ext uri="{FF2B5EF4-FFF2-40B4-BE49-F238E27FC236}">
                <a16:creationId xmlns:a16="http://schemas.microsoft.com/office/drawing/2014/main" id="{9953CB4A-5137-5162-A029-0DAEE49C3345}"/>
              </a:ext>
            </a:extLst>
          </p:cNvPr>
          <p:cNvSpPr>
            <a:spLocks noGrp="1" noChangeArrowheads="1"/>
          </p:cNvSpPr>
          <p:nvPr>
            <p:ph idx="1"/>
          </p:nvPr>
        </p:nvSpPr>
        <p:spPr bwMode="auto">
          <a:xfrm>
            <a:off x="457200" y="2111088"/>
            <a:ext cx="6070893"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parajita" panose="02020603050405020304" pitchFamily="18" charset="0"/>
                <a:cs typeface="Aparajita" panose="02020603050405020304" pitchFamily="18" charset="0"/>
              </a:rPr>
              <a:t>Faster and smarter travel planning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parajita" panose="02020603050405020304" pitchFamily="18" charset="0"/>
                <a:cs typeface="Aparajita" panose="02020603050405020304" pitchFamily="18" charset="0"/>
              </a:rPr>
              <a:t>Better route optimization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parajita" panose="02020603050405020304" pitchFamily="18" charset="0"/>
                <a:cs typeface="Aparajita" panose="02020603050405020304" pitchFamily="18" charset="0"/>
              </a:rPr>
              <a:t>Improved budget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parajita" panose="02020603050405020304" pitchFamily="18" charset="0"/>
                <a:cs typeface="Aparajita" panose="02020603050405020304" pitchFamily="18" charset="0"/>
              </a:rPr>
              <a:t>Enhanced user satisfaction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parajita" panose="02020603050405020304" pitchFamily="18" charset="0"/>
                <a:cs typeface="Aparajita" panose="02020603050405020304" pitchFamily="18" charset="0"/>
              </a:rPr>
              <a:t>Centralized management of travel activities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b="0" i="0" u="none" strike="noStrike" cap="none" normalizeH="0" baseline="0">
                <a:ln>
                  <a:noFill/>
                </a:ln>
                <a:solidFill>
                  <a:schemeClr val="tx1"/>
                </a:solidFill>
                <a:effectLst/>
                <a:latin typeface="Aparajita" panose="02020603050405020304" pitchFamily="18" charset="0"/>
                <a:cs typeface="Aparajita" panose="02020603050405020304" pitchFamily="18" charset="0"/>
              </a:rPr>
              <a:t>Scalable platform for future improvements </a:t>
            </a:r>
          </a:p>
        </p:txBody>
      </p:sp>
    </p:spTree>
    <p:extLst>
      <p:ext uri="{BB962C8B-B14F-4D97-AF65-F5344CB8AC3E}">
        <p14:creationId xmlns:p14="http://schemas.microsoft.com/office/powerpoint/2010/main" val="26104880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90600" y="228600"/>
            <a:ext cx="7696200" cy="685800"/>
          </a:xfrm>
        </p:spPr>
        <p:txBody>
          <a:bodyPr>
            <a:normAutofit/>
          </a:bodyPr>
          <a:lstStyle/>
          <a:p>
            <a:r>
              <a:rPr lang="en-US" sz="2800" b="1">
                <a:solidFill>
                  <a:srgbClr val="0070C0"/>
                </a:solidFill>
                <a:latin typeface="Times New Roman" pitchFamily="18" charset="0"/>
                <a:cs typeface="Times New Roman" pitchFamily="18" charset="0"/>
              </a:rPr>
              <a:t>Conclusion and Future Scope</a:t>
            </a:r>
            <a:endParaRPr lang="en-IN" sz="2800" b="1">
              <a:solidFill>
                <a:srgbClr val="0070C0"/>
              </a:solidFill>
              <a:latin typeface="Times New Roman" pitchFamily="18" charset="0"/>
              <a:cs typeface="Times New Roman" pitchFamily="18" charset="0"/>
            </a:endParaRPr>
          </a:p>
        </p:txBody>
      </p:sp>
      <p:sp>
        <p:nvSpPr>
          <p:cNvPr id="5" name="Content Placeholder 4">
            <a:extLst>
              <a:ext uri="{FF2B5EF4-FFF2-40B4-BE49-F238E27FC236}">
                <a16:creationId xmlns:a16="http://schemas.microsoft.com/office/drawing/2014/main" id="{4422A072-7E3B-BDEF-9B7B-27625990219B}"/>
              </a:ext>
            </a:extLst>
          </p:cNvPr>
          <p:cNvSpPr>
            <a:spLocks noGrp="1"/>
          </p:cNvSpPr>
          <p:nvPr>
            <p:ph idx="1"/>
          </p:nvPr>
        </p:nvSpPr>
        <p:spPr>
          <a:xfrm>
            <a:off x="457200" y="1050925"/>
            <a:ext cx="8229600" cy="5075239"/>
          </a:xfrm>
        </p:spPr>
        <p:txBody>
          <a:bodyPr>
            <a:noAutofit/>
          </a:bodyPr>
          <a:lstStyle/>
          <a:p>
            <a:r>
              <a:rPr lang="en-IN" sz="1800" b="1">
                <a:latin typeface="Aparajita" panose="02020603050405020304" pitchFamily="18" charset="0"/>
                <a:cs typeface="Aparajita" panose="02020603050405020304" pitchFamily="18" charset="0"/>
              </a:rPr>
              <a:t>Conclusion</a:t>
            </a:r>
          </a:p>
          <a:p>
            <a:r>
              <a:rPr lang="en-IN" sz="1800" err="1">
                <a:latin typeface="Aparajita" panose="02020603050405020304" pitchFamily="18" charset="0"/>
                <a:cs typeface="Aparajita" panose="02020603050405020304" pitchFamily="18" charset="0"/>
              </a:rPr>
              <a:t>TripForge</a:t>
            </a:r>
            <a:r>
              <a:rPr lang="en-IN" sz="1800">
                <a:latin typeface="Aparajita" panose="02020603050405020304" pitchFamily="18" charset="0"/>
                <a:cs typeface="Aparajita" panose="02020603050405020304" pitchFamily="18" charset="0"/>
              </a:rPr>
              <a:t> – Multi City Trip Planner is an efficient and user-friendly web application designed to simplify travel planning across multiple destinations. The system helps users organize routes, manage budgets, create itineraries, and handle travel details in one centralized platform. By reducing manual effort and improving travel management, </a:t>
            </a:r>
            <a:r>
              <a:rPr lang="en-IN" sz="1800" err="1">
                <a:latin typeface="Aparajita" panose="02020603050405020304" pitchFamily="18" charset="0"/>
                <a:cs typeface="Aparajita" panose="02020603050405020304" pitchFamily="18" charset="0"/>
              </a:rPr>
              <a:t>TripForge</a:t>
            </a:r>
            <a:r>
              <a:rPr lang="en-IN" sz="1800">
                <a:latin typeface="Aparajita" panose="02020603050405020304" pitchFamily="18" charset="0"/>
                <a:cs typeface="Aparajita" panose="02020603050405020304" pitchFamily="18" charset="0"/>
              </a:rPr>
              <a:t> enhances the overall travel experience for users. The project demonstrates how modern web technologies can provide smart and convenient solutions for complex travel planning.</a:t>
            </a:r>
            <a:br>
              <a:rPr lang="en-IN" sz="1800">
                <a:latin typeface="Aparajita" panose="02020603050405020304" pitchFamily="18" charset="0"/>
                <a:cs typeface="Aparajita" panose="02020603050405020304" pitchFamily="18" charset="0"/>
              </a:rPr>
            </a:br>
            <a:endParaRPr lang="en-IN" sz="1800">
              <a:latin typeface="Aparajita" panose="02020603050405020304" pitchFamily="18" charset="0"/>
              <a:cs typeface="Aparajita" panose="02020603050405020304" pitchFamily="18" charset="0"/>
            </a:endParaRPr>
          </a:p>
          <a:p>
            <a:r>
              <a:rPr lang="en-IN" sz="1800" b="1">
                <a:latin typeface="Aparajita" panose="02020603050405020304" pitchFamily="18" charset="0"/>
                <a:cs typeface="Aparajita" panose="02020603050405020304" pitchFamily="18" charset="0"/>
              </a:rPr>
              <a:t>Future Scope</a:t>
            </a:r>
          </a:p>
          <a:p>
            <a:r>
              <a:rPr lang="en-IN" sz="1800">
                <a:latin typeface="Aparajita" panose="02020603050405020304" pitchFamily="18" charset="0"/>
                <a:cs typeface="Aparajita" panose="02020603050405020304" pitchFamily="18" charset="0"/>
              </a:rPr>
              <a:t>The future scope of </a:t>
            </a:r>
            <a:r>
              <a:rPr lang="en-IN" sz="1800" err="1">
                <a:latin typeface="Aparajita" panose="02020603050405020304" pitchFamily="18" charset="0"/>
                <a:cs typeface="Aparajita" panose="02020603050405020304" pitchFamily="18" charset="0"/>
              </a:rPr>
              <a:t>TripForge</a:t>
            </a:r>
            <a:r>
              <a:rPr lang="en-IN" sz="1800">
                <a:latin typeface="Aparajita" panose="02020603050405020304" pitchFamily="18" charset="0"/>
                <a:cs typeface="Aparajita" panose="02020603050405020304" pitchFamily="18" charset="0"/>
              </a:rPr>
              <a:t> includes several advanced features and improvements that can make the platform more intelligent and user-friendly.</a:t>
            </a:r>
          </a:p>
          <a:p>
            <a:r>
              <a:rPr lang="en-IN" sz="1800">
                <a:latin typeface="Aparajita" panose="02020603050405020304" pitchFamily="18" charset="0"/>
                <a:cs typeface="Aparajita" panose="02020603050405020304" pitchFamily="18" charset="0"/>
              </a:rPr>
              <a:t>Integration of AI-based travel recommendations for personalized trip planning.</a:t>
            </a:r>
          </a:p>
          <a:p>
            <a:r>
              <a:rPr lang="en-IN" sz="1800">
                <a:latin typeface="Aparajita" panose="02020603050405020304" pitchFamily="18" charset="0"/>
                <a:cs typeface="Aparajita" panose="02020603050405020304" pitchFamily="18" charset="0"/>
              </a:rPr>
              <a:t>Real-time weather updates and traffic information.</a:t>
            </a:r>
          </a:p>
          <a:p>
            <a:r>
              <a:rPr lang="en-IN" sz="1800">
                <a:latin typeface="Aparajita" panose="02020603050405020304" pitchFamily="18" charset="0"/>
                <a:cs typeface="Aparajita" panose="02020603050405020304" pitchFamily="18" charset="0"/>
              </a:rPr>
              <a:t>Online booking facilities for hotels, flights, and transportation.</a:t>
            </a:r>
          </a:p>
          <a:p>
            <a:r>
              <a:rPr lang="en-IN" sz="1800">
                <a:latin typeface="Aparajita" panose="02020603050405020304" pitchFamily="18" charset="0"/>
                <a:cs typeface="Aparajita" panose="02020603050405020304" pitchFamily="18" charset="0"/>
              </a:rPr>
              <a:t>GPS and live navigation support for </a:t>
            </a:r>
            <a:r>
              <a:rPr lang="en-IN" sz="1800" err="1">
                <a:latin typeface="Aparajita" panose="02020603050405020304" pitchFamily="18" charset="0"/>
                <a:cs typeface="Aparajita" panose="02020603050405020304" pitchFamily="18" charset="0"/>
              </a:rPr>
              <a:t>travelers</a:t>
            </a:r>
            <a:r>
              <a:rPr lang="en-IN" sz="1800">
                <a:latin typeface="Aparajita" panose="02020603050405020304" pitchFamily="18" charset="0"/>
                <a:cs typeface="Aparajita" panose="02020603050405020304" pitchFamily="18" charset="0"/>
              </a:rPr>
              <a:t>.</a:t>
            </a:r>
          </a:p>
          <a:p>
            <a:r>
              <a:rPr lang="en-IN" sz="1800">
                <a:latin typeface="Aparajita" panose="02020603050405020304" pitchFamily="18" charset="0"/>
                <a:cs typeface="Aparajita" panose="02020603050405020304" pitchFamily="18" charset="0"/>
              </a:rPr>
              <a:t>Mobile application development for Android and iOS platforms.</a:t>
            </a:r>
          </a:p>
          <a:p>
            <a:r>
              <a:rPr lang="en-IN" sz="1800">
                <a:latin typeface="Aparajita" panose="02020603050405020304" pitchFamily="18" charset="0"/>
                <a:cs typeface="Aparajita" panose="02020603050405020304" pitchFamily="18" charset="0"/>
              </a:rPr>
              <a:t>Multi-language support for international users.</a:t>
            </a:r>
          </a:p>
          <a:p>
            <a:r>
              <a:rPr lang="en-IN" sz="1800">
                <a:latin typeface="Aparajita" panose="02020603050405020304" pitchFamily="18" charset="0"/>
                <a:cs typeface="Aparajita" panose="02020603050405020304" pitchFamily="18" charset="0"/>
              </a:rPr>
              <a:t>Chatbot assistance for instant customer support.</a:t>
            </a:r>
          </a:p>
          <a:p>
            <a:endParaRPr lang="en-US" sz="1800">
              <a:latin typeface="Aparajita" panose="02020603050405020304" pitchFamily="18" charset="0"/>
              <a:cs typeface="Aparajita" panose="02020603050405020304" pitchFamily="18" charset="0"/>
            </a:endParaRPr>
          </a:p>
        </p:txBody>
      </p:sp>
      <p:pic>
        <p:nvPicPr>
          <p:cNvPr id="3" name="Picture 2">
            <a:extLst>
              <a:ext uri="{FF2B5EF4-FFF2-40B4-BE49-F238E27FC236}">
                <a16:creationId xmlns:a16="http://schemas.microsoft.com/office/drawing/2014/main" id="{2F884086-DCA6-09DA-2ED3-B35984EF310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8600" y="92075"/>
            <a:ext cx="1295400" cy="63976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a:solidFill>
                  <a:srgbClr val="0070C0"/>
                </a:solidFill>
                <a:latin typeface="Times New Roman" panose="02020603050405020304" pitchFamily="18" charset="0"/>
                <a:cs typeface="Times New Roman" panose="02020603050405020304" pitchFamily="18" charset="0"/>
              </a:rPr>
              <a:t>References </a:t>
            </a:r>
          </a:p>
        </p:txBody>
      </p:sp>
      <p:pic>
        <p:nvPicPr>
          <p:cNvPr id="5" name="Picture 4">
            <a:extLst>
              <a:ext uri="{FF2B5EF4-FFF2-40B4-BE49-F238E27FC236}">
                <a16:creationId xmlns:a16="http://schemas.microsoft.com/office/drawing/2014/main" id="{381A5246-9866-9B93-E230-9793263438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600" y="92075"/>
            <a:ext cx="1447800" cy="639761"/>
          </a:xfrm>
          <a:prstGeom prst="rect">
            <a:avLst/>
          </a:prstGeom>
          <a:noFill/>
          <a:ln>
            <a:noFill/>
          </a:ln>
        </p:spPr>
      </p:pic>
      <p:sp>
        <p:nvSpPr>
          <p:cNvPr id="3" name="Rectangle 1">
            <a:extLst>
              <a:ext uri="{FF2B5EF4-FFF2-40B4-BE49-F238E27FC236}">
                <a16:creationId xmlns:a16="http://schemas.microsoft.com/office/drawing/2014/main" id="{9FEA43BB-AB25-1721-5EBD-92B6E9E42137}"/>
              </a:ext>
            </a:extLst>
          </p:cNvPr>
          <p:cNvSpPr>
            <a:spLocks noGrp="1" noChangeArrowheads="1"/>
          </p:cNvSpPr>
          <p:nvPr>
            <p:ph idx="1"/>
          </p:nvPr>
        </p:nvSpPr>
        <p:spPr bwMode="auto">
          <a:xfrm>
            <a:off x="457200" y="2709020"/>
            <a:ext cx="433965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parajita" panose="02020603050405020304" pitchFamily="18" charset="0"/>
                <a:cs typeface="Aparajita" panose="02020603050405020304" pitchFamily="18" charset="0"/>
              </a:rPr>
              <a:t>React.js Official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parajita" panose="02020603050405020304" pitchFamily="18" charset="0"/>
                <a:cs typeface="Aparajita" panose="02020603050405020304" pitchFamily="18" charset="0"/>
              </a:rPr>
              <a:t>Node.js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parajita" panose="02020603050405020304" pitchFamily="18" charset="0"/>
                <a:cs typeface="Aparajita" panose="02020603050405020304" pitchFamily="18" charset="0"/>
              </a:rPr>
              <a:t>Travel and Tourism Research Papers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parajita" panose="02020603050405020304" pitchFamily="18" charset="0"/>
                <a:cs typeface="Aparajita" panose="02020603050405020304" pitchFamily="18" charset="0"/>
              </a:rPr>
              <a:t>UI/UX Design Resources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parajita" panose="02020603050405020304" pitchFamily="18" charset="0"/>
                <a:cs typeface="Aparajita" panose="02020603050405020304" pitchFamily="18" charset="0"/>
              </a:rPr>
              <a:t>Travel API Documentation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0" i="0" u="none" strike="noStrike" cap="none" normalizeH="0" baseline="0">
                <a:ln>
                  <a:noFill/>
                </a:ln>
                <a:solidFill>
                  <a:schemeClr val="tx1"/>
                </a:solidFill>
                <a:effectLst/>
                <a:latin typeface="Aparajita" panose="02020603050405020304" pitchFamily="18" charset="0"/>
                <a:cs typeface="Aparajita" panose="02020603050405020304" pitchFamily="18" charset="0"/>
              </a:rPr>
              <a:t>Web Development Tutorials and Guides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912075-789A-8ABC-0318-3539CA69D3FE}"/>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DCD8B799-1014-A270-C662-4E878FAC9288}"/>
              </a:ext>
            </a:extLst>
          </p:cNvPr>
          <p:cNvSpPr/>
          <p:nvPr/>
        </p:nvSpPr>
        <p:spPr>
          <a:xfrm>
            <a:off x="1767855" y="2774216"/>
            <a:ext cx="5608289" cy="923330"/>
          </a:xfrm>
          <a:prstGeom prst="rect">
            <a:avLst/>
          </a:prstGeom>
          <a:noFill/>
        </p:spPr>
        <p:txBody>
          <a:bodyPr wrap="square" lIns="91440" tIns="45720" rIns="91440" bIns="45720">
            <a:spAutoFit/>
          </a:bodyPr>
          <a:lstStyle/>
          <a:p>
            <a:pPr algn="ctr"/>
            <a:r>
              <a:rPr lang="en-US" sz="5400" b="1">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lgerian" panose="04020705040A02060702" pitchFamily="82" charset="0"/>
              </a:rPr>
              <a:t>Thank you</a:t>
            </a:r>
            <a:endParaRPr lang="en-US" sz="5400" b="1" cap="none" spc="0">
              <a:ln w="13462">
                <a:solidFill>
                  <a:schemeClr val="bg1"/>
                </a:solidFill>
                <a:prstDash val="solid"/>
              </a:ln>
              <a:solidFill>
                <a:schemeClr val="tx1">
                  <a:lumMod val="85000"/>
                  <a:lumOff val="15000"/>
                </a:schemeClr>
              </a:solidFill>
              <a:effectLst>
                <a:outerShdw dist="38100" dir="2700000" algn="bl" rotWithShape="0">
                  <a:schemeClr val="accent5"/>
                </a:outerShdw>
              </a:effectLst>
              <a:latin typeface="Algerian" panose="04020705040A02060702" pitchFamily="82" charset="0"/>
            </a:endParaRPr>
          </a:p>
        </p:txBody>
      </p:sp>
    </p:spTree>
    <p:extLst>
      <p:ext uri="{BB962C8B-B14F-4D97-AF65-F5344CB8AC3E}">
        <p14:creationId xmlns:p14="http://schemas.microsoft.com/office/powerpoint/2010/main" val="15584115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950</Words>
  <Application>Microsoft Office PowerPoint</Application>
  <PresentationFormat>On-screen Show (4:3)</PresentationFormat>
  <Paragraphs>104</Paragraphs>
  <Slides>13</Slides>
  <Notes>0</Notes>
  <HiddenSlides>0</HiddenSlides>
  <MMClips>0</MMClip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Office Theme</vt:lpstr>
      <vt:lpstr> A Project Review Meeting    on  Multi City Trip Planner  </vt:lpstr>
      <vt:lpstr>Outline of the Presentation</vt:lpstr>
      <vt:lpstr>Abstract</vt:lpstr>
      <vt:lpstr>Introduction</vt:lpstr>
      <vt:lpstr>Problem Statement </vt:lpstr>
      <vt:lpstr>PowerPoint Presentation</vt:lpstr>
      <vt:lpstr>PowerPoint Presentation</vt:lpstr>
      <vt:lpstr>Objectives with Justification </vt:lpstr>
      <vt:lpstr>Modules [Frontend web pages]</vt:lpstr>
      <vt:lpstr>Expected Outcomes of the Proposed Work </vt:lpstr>
      <vt:lpstr>Conclusion and Future Scope</vt:lpstr>
      <vt:lpstr>References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Abstract</dc:title>
  <dc:creator>subbu</dc:creator>
  <cp:lastModifiedBy>Pranav Vaka</cp:lastModifiedBy>
  <cp:revision>7</cp:revision>
  <dcterms:created xsi:type="dcterms:W3CDTF">2006-08-16T00:00:00Z</dcterms:created>
  <dcterms:modified xsi:type="dcterms:W3CDTF">2026-06-19T03:56:14Z</dcterms:modified>
</cp:coreProperties>
</file>